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56" r:id="rId2"/>
    <p:sldId id="257" r:id="rId3"/>
    <p:sldId id="260" r:id="rId4"/>
    <p:sldId id="261" r:id="rId5"/>
    <p:sldId id="275" r:id="rId6"/>
    <p:sldId id="276" r:id="rId7"/>
    <p:sldId id="263" r:id="rId8"/>
    <p:sldId id="279" r:id="rId9"/>
    <p:sldId id="288" r:id="rId10"/>
    <p:sldId id="278" r:id="rId11"/>
    <p:sldId id="264" r:id="rId12"/>
    <p:sldId id="265" r:id="rId13"/>
    <p:sldId id="277" r:id="rId14"/>
    <p:sldId id="281" r:id="rId15"/>
    <p:sldId id="280" r:id="rId16"/>
    <p:sldId id="282" r:id="rId17"/>
    <p:sldId id="284" r:id="rId18"/>
    <p:sldId id="286" r:id="rId19"/>
    <p:sldId id="285" r:id="rId20"/>
    <p:sldId id="289" r:id="rId21"/>
    <p:sldId id="272" r:id="rId22"/>
    <p:sldId id="287" r:id="rId23"/>
    <p:sldId id="274"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97" autoAdjust="0"/>
  </p:normalViewPr>
  <p:slideViewPr>
    <p:cSldViewPr snapToGrid="0" snapToObjects="1">
      <p:cViewPr varScale="1">
        <p:scale>
          <a:sx n="83" d="100"/>
          <a:sy n="83" d="100"/>
        </p:scale>
        <p:origin x="1450"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F7C1F3-6902-4456-8A0B-07AB7361ADDC}" type="datetimeFigureOut">
              <a:rPr lang="en-US" smtClean="0"/>
              <a:t>3/31/2025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2F9D45-7643-4176-B4FE-D124FEEBB789}" type="slidenum">
              <a:rPr lang="en-US" smtClean="0"/>
              <a:t>‹#›</a:t>
            </a:fld>
            <a:endParaRPr lang="en-US"/>
          </a:p>
        </p:txBody>
      </p:sp>
    </p:spTree>
    <p:extLst>
      <p:ext uri="{BB962C8B-B14F-4D97-AF65-F5344CB8AC3E}">
        <p14:creationId xmlns:p14="http://schemas.microsoft.com/office/powerpoint/2010/main" val="2117862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Interpretation:</a:t>
            </a:r>
          </a:p>
          <a:p>
            <a:r>
              <a:rPr lang="en-US" dirty="0"/>
              <a:t> The </a:t>
            </a:r>
            <a:r>
              <a:rPr lang="en-US" b="1" dirty="0"/>
              <a:t>Multiple R-squared (0.9026)</a:t>
            </a:r>
            <a:r>
              <a:rPr lang="en-US" dirty="0"/>
              <a:t> indicates that </a:t>
            </a:r>
            <a:r>
              <a:rPr lang="en-US" b="1" dirty="0"/>
              <a:t>90.26% of the variance in Sales</a:t>
            </a:r>
            <a:r>
              <a:rPr lang="en-US" dirty="0"/>
              <a:t> is explained by TV, Radio, and Newspaper advertising.</a:t>
            </a:r>
            <a:br>
              <a:rPr lang="en-US" dirty="0"/>
            </a:br>
            <a:r>
              <a:rPr lang="en-US" dirty="0"/>
              <a:t> The </a:t>
            </a:r>
            <a:r>
              <a:rPr lang="en-US" b="1" dirty="0"/>
              <a:t>Adjusted R-squared (0.9011)</a:t>
            </a:r>
            <a:r>
              <a:rPr lang="en-US" dirty="0"/>
              <a:t> accounts for the number of predictors, meaning the model is a strong fit.</a:t>
            </a:r>
            <a:br>
              <a:rPr lang="en-US" dirty="0"/>
            </a:br>
            <a:r>
              <a:rPr lang="en-US" dirty="0"/>
              <a:t> The </a:t>
            </a:r>
            <a:r>
              <a:rPr lang="en-US" b="1" dirty="0"/>
              <a:t>F-statistic (605.4) and p-value (&lt; 2.2e-16)</a:t>
            </a:r>
            <a:r>
              <a:rPr lang="en-US" dirty="0"/>
              <a:t> show that the overall model is highly significant, meaning at least one predictor has a meaningful impact on Sales.</a:t>
            </a:r>
          </a:p>
          <a:p>
            <a:endParaRPr lang="en-US" dirty="0"/>
          </a:p>
          <a:p>
            <a:pPr>
              <a:buNone/>
            </a:pPr>
            <a:r>
              <a:rPr lang="en-US" b="1" dirty="0"/>
              <a:t>Interpretation:</a:t>
            </a:r>
          </a:p>
          <a:p>
            <a:r>
              <a:rPr lang="en-US" dirty="0"/>
              <a:t> </a:t>
            </a:r>
            <a:r>
              <a:rPr lang="en-US" b="1" dirty="0"/>
              <a:t>Residuals represent the difference between actual and predicted Sales values.</a:t>
            </a:r>
            <a:br>
              <a:rPr lang="en-US" dirty="0"/>
            </a:br>
            <a:r>
              <a:rPr lang="en-US" dirty="0"/>
              <a:t> The </a:t>
            </a:r>
            <a:r>
              <a:rPr lang="en-US" b="1" dirty="0"/>
              <a:t>median residual (-0.0008)</a:t>
            </a:r>
            <a:r>
              <a:rPr lang="en-US" dirty="0"/>
              <a:t> is close to zero, indicating that the model predicts Sales well on average.</a:t>
            </a:r>
            <a:br>
              <a:rPr lang="en-US" dirty="0"/>
            </a:br>
            <a:r>
              <a:rPr lang="en-US" dirty="0"/>
              <a:t> The </a:t>
            </a:r>
            <a:r>
              <a:rPr lang="en-US" b="1" dirty="0"/>
              <a:t>interquartile range (1Q: -0.8244, 3Q: 0.8976)</a:t>
            </a:r>
            <a:r>
              <a:rPr lang="en-US" dirty="0"/>
              <a:t> suggests that most residuals are small, but some extreme residuals exist, as seen in the minimum (-7.3034) and maximum (3.7473).</a:t>
            </a:r>
          </a:p>
          <a:p>
            <a:endParaRPr lang="en-US" dirty="0"/>
          </a:p>
          <a:p>
            <a:endParaRPr lang="en-US" dirty="0"/>
          </a:p>
        </p:txBody>
      </p:sp>
      <p:sp>
        <p:nvSpPr>
          <p:cNvPr id="4" name="Slide Number Placeholder 3"/>
          <p:cNvSpPr>
            <a:spLocks noGrp="1"/>
          </p:cNvSpPr>
          <p:nvPr>
            <p:ph type="sldNum" sz="quarter" idx="5"/>
          </p:nvPr>
        </p:nvSpPr>
        <p:spPr/>
        <p:txBody>
          <a:bodyPr/>
          <a:lstStyle/>
          <a:p>
            <a:fld id="{B22F9D45-7643-4176-B4FE-D124FEEBB789}" type="slidenum">
              <a:rPr lang="en-US" smtClean="0"/>
              <a:t>12</a:t>
            </a:fld>
            <a:endParaRPr lang="en-US"/>
          </a:p>
        </p:txBody>
      </p:sp>
    </p:spTree>
    <p:extLst>
      <p:ext uri="{BB962C8B-B14F-4D97-AF65-F5344CB8AC3E}">
        <p14:creationId xmlns:p14="http://schemas.microsoft.com/office/powerpoint/2010/main" val="31877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Intercept (4.6251):</a:t>
            </a:r>
            <a:r>
              <a:rPr lang="en-US" dirty="0"/>
              <a:t> When </a:t>
            </a:r>
            <a:r>
              <a:rPr lang="en-US" b="1" dirty="0"/>
              <a:t>TV, Radio, and Newspaper spending are zero, the expected Sales is 4.63 units</a:t>
            </a:r>
            <a:r>
              <a:rPr lang="en-US" dirty="0"/>
              <a:t>.</a:t>
            </a:r>
            <a:br>
              <a:rPr lang="en-US" dirty="0"/>
            </a:br>
            <a:r>
              <a:rPr lang="en-US" b="1" dirty="0"/>
              <a:t>TV (0.0544, p &lt; 0.001):</a:t>
            </a:r>
            <a:r>
              <a:rPr lang="en-US" dirty="0"/>
              <a:t> For every </a:t>
            </a:r>
            <a:r>
              <a:rPr lang="en-US" b="1" dirty="0"/>
              <a:t>$1 increase in TV advertising, Sales increase by 0.0544 units</a:t>
            </a:r>
            <a:r>
              <a:rPr lang="en-US" dirty="0"/>
              <a:t> (highly significant).</a:t>
            </a:r>
            <a:br>
              <a:rPr lang="en-US" dirty="0"/>
            </a:br>
            <a:r>
              <a:rPr lang="en-US" b="1" dirty="0"/>
              <a:t>Radio (0.1070, p &lt; 0.001):</a:t>
            </a:r>
            <a:r>
              <a:rPr lang="en-US" dirty="0"/>
              <a:t> For every </a:t>
            </a:r>
            <a:r>
              <a:rPr lang="en-US" b="1" dirty="0"/>
              <a:t>$1 increase in Radio advertising, Sales increase by 0.107 units</a:t>
            </a:r>
            <a:r>
              <a:rPr lang="en-US" dirty="0"/>
              <a:t> (highly significant).</a:t>
            </a:r>
            <a:br>
              <a:rPr lang="en-US" dirty="0"/>
            </a:br>
            <a:r>
              <a:rPr lang="en-US" b="1" dirty="0"/>
              <a:t>Newspaper (0.0003, p = 0.954):</a:t>
            </a:r>
            <a:r>
              <a:rPr lang="en-US" dirty="0"/>
              <a:t> Newspaper advertising has </a:t>
            </a:r>
            <a:r>
              <a:rPr lang="en-US" b="1" dirty="0"/>
              <a:t>no significant impact on Sales</a:t>
            </a:r>
            <a:r>
              <a:rPr lang="en-US" dirty="0"/>
              <a:t>, meaning increasing Newspaper spending does not meaningfully affect Sales.</a:t>
            </a:r>
          </a:p>
        </p:txBody>
      </p:sp>
      <p:sp>
        <p:nvSpPr>
          <p:cNvPr id="4" name="Slide Number Placeholder 3"/>
          <p:cNvSpPr>
            <a:spLocks noGrp="1"/>
          </p:cNvSpPr>
          <p:nvPr>
            <p:ph type="sldNum" sz="quarter" idx="5"/>
          </p:nvPr>
        </p:nvSpPr>
        <p:spPr/>
        <p:txBody>
          <a:bodyPr/>
          <a:lstStyle/>
          <a:p>
            <a:fld id="{B22F9D45-7643-4176-B4FE-D124FEEBB789}" type="slidenum">
              <a:rPr lang="en-US" smtClean="0"/>
              <a:t>13</a:t>
            </a:fld>
            <a:endParaRPr lang="en-US"/>
          </a:p>
        </p:txBody>
      </p:sp>
    </p:spTree>
    <p:extLst>
      <p:ext uri="{BB962C8B-B14F-4D97-AF65-F5344CB8AC3E}">
        <p14:creationId xmlns:p14="http://schemas.microsoft.com/office/powerpoint/2010/main" val="1049017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br>
              <a:rPr lang="en-US" b="1" dirty="0"/>
            </a:br>
            <a:br>
              <a:rPr lang="en-US" b="1" dirty="0"/>
            </a:br>
            <a:r>
              <a:rPr lang="en-US" b="1" dirty="0"/>
              <a:t>Adjusted R² improved slightly (0.9011 → 0.9016)</a:t>
            </a:r>
            <a:r>
              <a:rPr lang="en-US" dirty="0"/>
              <a:t>, meaning the model fit is better after removing the unnecessary Newspaper variable.</a:t>
            </a:r>
          </a:p>
          <a:p>
            <a:pPr>
              <a:buNone/>
            </a:pPr>
            <a:r>
              <a:rPr lang="en-US" b="1" dirty="0"/>
              <a:t>F-statistic increased (605.4 → 912.7)</a:t>
            </a:r>
            <a:r>
              <a:rPr lang="en-US" dirty="0"/>
              <a:t>, which indicates a stronger model fit.</a:t>
            </a:r>
          </a:p>
          <a:p>
            <a:r>
              <a:rPr lang="en-US" b="1" dirty="0"/>
              <a:t>Residual Standard Error (RSE) decreased (1.662 → 1.657)</a:t>
            </a:r>
            <a:r>
              <a:rPr lang="en-US" dirty="0"/>
              <a:t>, meaning the model’s predictions are slightly more precise.</a:t>
            </a:r>
          </a:p>
          <a:p>
            <a:endParaRPr lang="en-US" dirty="0"/>
          </a:p>
        </p:txBody>
      </p:sp>
      <p:sp>
        <p:nvSpPr>
          <p:cNvPr id="4" name="Slide Number Placeholder 3"/>
          <p:cNvSpPr>
            <a:spLocks noGrp="1"/>
          </p:cNvSpPr>
          <p:nvPr>
            <p:ph type="sldNum" sz="quarter" idx="5"/>
          </p:nvPr>
        </p:nvSpPr>
        <p:spPr/>
        <p:txBody>
          <a:bodyPr/>
          <a:lstStyle/>
          <a:p>
            <a:fld id="{B22F9D45-7643-4176-B4FE-D124FEEBB789}" type="slidenum">
              <a:rPr lang="en-US" smtClean="0"/>
              <a:t>14</a:t>
            </a:fld>
            <a:endParaRPr lang="en-US"/>
          </a:p>
        </p:txBody>
      </p:sp>
    </p:spTree>
    <p:extLst>
      <p:ext uri="{BB962C8B-B14F-4D97-AF65-F5344CB8AC3E}">
        <p14:creationId xmlns:p14="http://schemas.microsoft.com/office/powerpoint/2010/main" val="1556891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3C3FC34-1960-4C9C-ABE6-3C425802993A}" type="datetime1">
              <a:rPr lang="en-US" smtClean="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233326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223040-7495-47C9-92DC-9B26BEFF7EB9}" type="datetime1">
              <a:rPr lang="en-US" smtClean="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355885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8057A0-2761-41F5-B8BC-80599A987106}" type="datetime1">
              <a:rPr lang="en-US" smtClean="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855881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9247C1F-DB17-4199-AFFF-B26E836351F4}" type="datetime1">
              <a:rPr lang="en-US" smtClean="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8882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2904F0-7A6A-415A-B3BE-AFEFD1E00EA8}" type="datetime1">
              <a:rPr lang="en-US" smtClean="0"/>
              <a:t>3/31/2025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084522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735AEC-6DE3-4C56-BB5F-024DF9D12453}" type="datetime1">
              <a:rPr lang="en-US" smtClean="0"/>
              <a:t>3/31/2025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479449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C1367E-7330-466E-AE41-A4457C567133}" type="datetime1">
              <a:rPr lang="en-US" smtClean="0"/>
              <a:t>3/31/2025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440256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1159D9-4F01-4818-A04F-C6ACB840E420}" type="datetime1">
              <a:rPr lang="en-US" smtClean="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88353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2C202F-5563-43B2-9A27-E0D6372A6348}" type="datetime1">
              <a:rPr lang="en-US" smtClean="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193374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3AD7EC-90B1-4BDC-BEEE-D7992E8ABE8E}" type="datetime1">
              <a:rPr lang="en-US" smtClean="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702650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A31F0-F950-492D-928D-B5D951D1EE8A}" type="datetime1">
              <a:rPr lang="en-US" smtClean="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dirty="0"/>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673241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2955890-3B84-47B8-8BB0-A5F20FA4C1A2}" type="datetime1">
              <a:rPr lang="en-US" smtClean="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530757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7AA7A85-A040-43F4-BE8B-3F15BBC45C30}" type="datetime1">
              <a:rPr lang="en-US" smtClean="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dirty="0"/>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948555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4EA063C-6C51-4AEC-A63C-A52DBCAEDC67}" type="datetime1">
              <a:rPr lang="en-US" smtClean="0"/>
              <a:t>3/31/2025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5161459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98D8EE-1B11-4BFA-B196-5821408B4225}" type="datetime1">
              <a:rPr lang="en-US" smtClean="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7408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0272C-AF3F-421D-9929-501BD01C602F}" type="datetime1">
              <a:rPr lang="en-US" smtClean="0"/>
              <a:t>3/31/2025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168854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9C807AF5-0999-450A-89A3-D28BB082BAAA}" type="datetime1">
              <a:rPr lang="en-US" smtClean="0"/>
              <a:t>3/31/2025</a:t>
            </a:fld>
            <a:endParaRPr lang="en-US" dirty="0"/>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612893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904" y="2324978"/>
            <a:ext cx="8244191" cy="1470025"/>
          </a:xfrm>
        </p:spPr>
        <p:txBody>
          <a:bodyPr>
            <a:normAutofit fontScale="90000"/>
          </a:bodyPr>
          <a:lstStyle/>
          <a:p>
            <a:r>
              <a:rPr dirty="0"/>
              <a:t>Advertising Data Analysis: A Multiple Linear Regression Approach</a:t>
            </a:r>
          </a:p>
        </p:txBody>
      </p:sp>
      <p:sp>
        <p:nvSpPr>
          <p:cNvPr id="3" name="Subtitle 2"/>
          <p:cNvSpPr>
            <a:spLocks noGrp="1"/>
          </p:cNvSpPr>
          <p:nvPr>
            <p:ph type="subTitle" idx="1"/>
          </p:nvPr>
        </p:nvSpPr>
        <p:spPr>
          <a:xfrm>
            <a:off x="3618688" y="4304489"/>
            <a:ext cx="4153711" cy="1752600"/>
          </a:xfrm>
        </p:spPr>
        <p:txBody>
          <a:bodyPr>
            <a:normAutofit/>
          </a:bodyPr>
          <a:lstStyle/>
          <a:p>
            <a:pPr algn="l"/>
            <a:r>
              <a:rPr sz="2400" dirty="0">
                <a:solidFill>
                  <a:schemeClr val="tx1"/>
                </a:solidFill>
              </a:rPr>
              <a:t>Presented </a:t>
            </a:r>
            <a:r>
              <a:rPr lang="en-US" sz="2400" dirty="0">
                <a:solidFill>
                  <a:schemeClr val="tx1"/>
                </a:solidFill>
              </a:rPr>
              <a:t>by</a:t>
            </a:r>
          </a:p>
          <a:p>
            <a:pPr marL="457200" indent="-457200" algn="l">
              <a:buFontTx/>
              <a:buChar char="-"/>
            </a:pPr>
            <a:r>
              <a:rPr lang="en-US" sz="2400" dirty="0">
                <a:solidFill>
                  <a:schemeClr val="tx1"/>
                </a:solidFill>
              </a:rPr>
              <a:t>Yash Gadbail (MS2403)</a:t>
            </a:r>
          </a:p>
          <a:p>
            <a:pPr marL="457200" indent="-457200" algn="l">
              <a:buFontTx/>
              <a:buChar char="-"/>
            </a:pPr>
            <a:r>
              <a:rPr lang="en-US" sz="2400" dirty="0">
                <a:solidFill>
                  <a:schemeClr val="tx1"/>
                </a:solidFill>
              </a:rPr>
              <a:t>Bhushan Zade (MS2421)</a:t>
            </a:r>
            <a:endParaRPr sz="2400" dirty="0">
              <a:solidFill>
                <a:schemeClr val="tx1"/>
              </a:solidFill>
            </a:endParaRPr>
          </a:p>
        </p:txBody>
      </p:sp>
      <p:pic>
        <p:nvPicPr>
          <p:cNvPr id="5" name="Picture 4">
            <a:extLst>
              <a:ext uri="{FF2B5EF4-FFF2-40B4-BE49-F238E27FC236}">
                <a16:creationId xmlns:a16="http://schemas.microsoft.com/office/drawing/2014/main" id="{B1658581-BAD5-9FC4-8748-A1C07F2F68E5}"/>
              </a:ext>
            </a:extLst>
          </p:cNvPr>
          <p:cNvPicPr>
            <a:picLocks noChangeAspect="1"/>
          </p:cNvPicPr>
          <p:nvPr/>
        </p:nvPicPr>
        <p:blipFill>
          <a:blip r:embed="rId2"/>
          <a:stretch>
            <a:fillRect/>
          </a:stretch>
        </p:blipFill>
        <p:spPr>
          <a:xfrm>
            <a:off x="403722" y="142875"/>
            <a:ext cx="476250" cy="476250"/>
          </a:xfrm>
          <a:prstGeom prst="rect">
            <a:avLst/>
          </a:prstGeom>
        </p:spPr>
      </p:pic>
      <p:sp>
        <p:nvSpPr>
          <p:cNvPr id="7" name="Slide Number Placeholder 6">
            <a:extLst>
              <a:ext uri="{FF2B5EF4-FFF2-40B4-BE49-F238E27FC236}">
                <a16:creationId xmlns:a16="http://schemas.microsoft.com/office/drawing/2014/main" id="{566C1467-5AA9-5E22-EEFB-CDC201A6E457}"/>
              </a:ext>
            </a:extLst>
          </p:cNvPr>
          <p:cNvSpPr>
            <a:spLocks noGrp="1"/>
          </p:cNvSpPr>
          <p:nvPr>
            <p:ph type="sldNum" sz="quarter" idx="12"/>
          </p:nvPr>
        </p:nvSpPr>
        <p:spPr/>
        <p:txBody>
          <a:bodyPr/>
          <a:lstStyle/>
          <a:p>
            <a:fld id="{C1FF6DA9-008F-8B48-92A6-B652298478BF}"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2008022"/>
            <a:ext cx="7910623" cy="3999374"/>
          </a:xfrm>
        </p:spPr>
        <p:txBody>
          <a:bodyPr>
            <a:normAutofit lnSpcReduction="10000"/>
          </a:bodyPr>
          <a:lstStyle/>
          <a:p>
            <a:r>
              <a:rPr lang="en-US" sz="2400" b="0" i="0" dirty="0">
                <a:solidFill>
                  <a:srgbClr val="222222"/>
                </a:solidFill>
                <a:effectLst/>
                <a:latin typeface="Arial" panose="020B0604020202020204" pitchFamily="34" charset="0"/>
              </a:rPr>
              <a:t>Is there a relationship between advertising and sales?</a:t>
            </a:r>
          </a:p>
          <a:p>
            <a:r>
              <a:rPr lang="en-US" sz="2400" b="0" i="0" dirty="0">
                <a:solidFill>
                  <a:srgbClr val="222222"/>
                </a:solidFill>
                <a:effectLst/>
                <a:latin typeface="Arial" panose="020B0604020202020204" pitchFamily="34" charset="0"/>
              </a:rPr>
              <a:t>How strong is this relationship?</a:t>
            </a:r>
          </a:p>
          <a:p>
            <a:r>
              <a:rPr lang="en-US" sz="2400" b="0" i="0" dirty="0">
                <a:solidFill>
                  <a:srgbClr val="222222"/>
                </a:solidFill>
                <a:effectLst/>
                <a:latin typeface="Arial" panose="020B0604020202020204" pitchFamily="34" charset="0"/>
              </a:rPr>
              <a:t>Which type of advertising—TV, radio, or newspaper—has the most impact?</a:t>
            </a:r>
          </a:p>
          <a:p>
            <a:r>
              <a:rPr lang="en-US" sz="2400" b="0" i="0" dirty="0">
                <a:solidFill>
                  <a:srgbClr val="222222"/>
                </a:solidFill>
                <a:effectLst/>
                <a:latin typeface="Arial" panose="020B0604020202020204" pitchFamily="34" charset="0"/>
              </a:rPr>
              <a:t>How much will sales increase for every dollar spent?</a:t>
            </a:r>
          </a:p>
          <a:p>
            <a:r>
              <a:rPr lang="en-US" sz="2400" b="0" i="0" dirty="0">
                <a:solidFill>
                  <a:srgbClr val="222222"/>
                </a:solidFill>
                <a:effectLst/>
                <a:latin typeface="Arial" panose="020B0604020202020204" pitchFamily="34" charset="0"/>
              </a:rPr>
              <a:t>Is the relationship truly linear, or do we need transformations?</a:t>
            </a:r>
          </a:p>
          <a:p>
            <a:pPr algn="l" rtl="0"/>
            <a:r>
              <a:rPr lang="en-US" sz="2400" b="0" i="0" dirty="0">
                <a:solidFill>
                  <a:srgbClr val="222222"/>
                </a:solidFill>
                <a:effectLst/>
                <a:latin typeface="Arial" panose="020B0604020202020204" pitchFamily="34" charset="0"/>
              </a:rPr>
              <a:t>Can we accurately predict future sales?</a:t>
            </a:r>
          </a:p>
          <a:p>
            <a:r>
              <a:rPr lang="en-US" sz="2400" dirty="0">
                <a:solidFill>
                  <a:srgbClr val="222222"/>
                </a:solidFill>
                <a:latin typeface="Arial" panose="020B0604020202020204" pitchFamily="34" charset="0"/>
              </a:rPr>
              <a:t>Do different media create a synergy effect?</a:t>
            </a:r>
          </a:p>
          <a:p>
            <a:pPr algn="l" rtl="0"/>
            <a:endParaRPr lang="en-US" sz="2400" b="0" i="0" dirty="0">
              <a:solidFill>
                <a:srgbClr val="222222"/>
              </a:solidFill>
              <a:effectLst/>
              <a:latin typeface="Arial" panose="020B0604020202020204" pitchFamily="34" charset="0"/>
            </a:endParaRPr>
          </a:p>
          <a:p>
            <a:pPr algn="l" rtl="0">
              <a:buNone/>
            </a:pPr>
            <a:endParaRPr lang="en-US" sz="2400" b="0" i="0" dirty="0">
              <a:solidFill>
                <a:srgbClr val="222222"/>
              </a:solidFill>
              <a:effectLst/>
              <a:latin typeface="Arial" panose="020B0604020202020204" pitchFamily="34" charset="0"/>
            </a:endParaRPr>
          </a:p>
        </p:txBody>
      </p:sp>
      <p:sp>
        <p:nvSpPr>
          <p:cNvPr id="6" name="Title 1">
            <a:extLst>
              <a:ext uri="{FF2B5EF4-FFF2-40B4-BE49-F238E27FC236}">
                <a16:creationId xmlns:a16="http://schemas.microsoft.com/office/drawing/2014/main" id="{48D1A5C5-B812-9FDC-4148-5619F978A198}"/>
              </a:ext>
            </a:extLst>
          </p:cNvPr>
          <p:cNvSpPr>
            <a:spLocks noGrp="1"/>
          </p:cNvSpPr>
          <p:nvPr>
            <p:ph type="title"/>
          </p:nvPr>
        </p:nvSpPr>
        <p:spPr>
          <a:xfrm>
            <a:off x="1498634" y="624110"/>
            <a:ext cx="6589199" cy="843183"/>
          </a:xfrm>
        </p:spPr>
        <p:txBody>
          <a:bodyPr/>
          <a:lstStyle/>
          <a:p>
            <a:r>
              <a:rPr lang="en-US" dirty="0"/>
              <a:t>Questions</a:t>
            </a:r>
            <a:endParaRPr dirty="0"/>
          </a:p>
        </p:txBody>
      </p:sp>
      <p:sp>
        <p:nvSpPr>
          <p:cNvPr id="8" name="Slide Number Placeholder 7">
            <a:extLst>
              <a:ext uri="{FF2B5EF4-FFF2-40B4-BE49-F238E27FC236}">
                <a16:creationId xmlns:a16="http://schemas.microsoft.com/office/drawing/2014/main" id="{C63B364E-FCA4-BFA6-4D78-754C0A4637D1}"/>
              </a:ext>
            </a:extLst>
          </p:cNvPr>
          <p:cNvSpPr>
            <a:spLocks noGrp="1"/>
          </p:cNvSpPr>
          <p:nvPr>
            <p:ph type="sldNum" sz="quarter" idx="12"/>
          </p:nvPr>
        </p:nvSpPr>
        <p:spPr/>
        <p:txBody>
          <a:bodyPr/>
          <a:lstStyle/>
          <a:p>
            <a:fld id="{C1FF6DA9-008F-8B48-92A6-B652298478BF}" type="slidenum">
              <a:rPr lang="en-US" smtClean="0"/>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Summary Statistics</a:t>
            </a:r>
          </a:p>
        </p:txBody>
      </p:sp>
      <p:graphicFrame>
        <p:nvGraphicFramePr>
          <p:cNvPr id="27" name="Content Placeholder 26">
            <a:extLst>
              <a:ext uri="{FF2B5EF4-FFF2-40B4-BE49-F238E27FC236}">
                <a16:creationId xmlns:a16="http://schemas.microsoft.com/office/drawing/2014/main" id="{46F040FA-74F8-CDDC-894B-CA38C5DEB3BE}"/>
              </a:ext>
            </a:extLst>
          </p:cNvPr>
          <p:cNvGraphicFramePr>
            <a:graphicFrameLocks noGrp="1"/>
          </p:cNvGraphicFramePr>
          <p:nvPr>
            <p:ph idx="1"/>
            <p:extLst>
              <p:ext uri="{D42A27DB-BD31-4B8C-83A1-F6EECF244321}">
                <p14:modId xmlns:p14="http://schemas.microsoft.com/office/powerpoint/2010/main" val="763949396"/>
              </p:ext>
            </p:extLst>
          </p:nvPr>
        </p:nvGraphicFramePr>
        <p:xfrm>
          <a:off x="641927" y="1827486"/>
          <a:ext cx="8229600" cy="2926080"/>
        </p:xfrm>
        <a:graphic>
          <a:graphicData uri="http://schemas.openxmlformats.org/drawingml/2006/table">
            <a:tbl>
              <a:tblPr/>
              <a:tblGrid>
                <a:gridCol w="1645920">
                  <a:extLst>
                    <a:ext uri="{9D8B030D-6E8A-4147-A177-3AD203B41FA5}">
                      <a16:colId xmlns:a16="http://schemas.microsoft.com/office/drawing/2014/main" val="199988221"/>
                    </a:ext>
                  </a:extLst>
                </a:gridCol>
                <a:gridCol w="1645920">
                  <a:extLst>
                    <a:ext uri="{9D8B030D-6E8A-4147-A177-3AD203B41FA5}">
                      <a16:colId xmlns:a16="http://schemas.microsoft.com/office/drawing/2014/main" val="210044931"/>
                    </a:ext>
                  </a:extLst>
                </a:gridCol>
                <a:gridCol w="1645920">
                  <a:extLst>
                    <a:ext uri="{9D8B030D-6E8A-4147-A177-3AD203B41FA5}">
                      <a16:colId xmlns:a16="http://schemas.microsoft.com/office/drawing/2014/main" val="3198385848"/>
                    </a:ext>
                  </a:extLst>
                </a:gridCol>
                <a:gridCol w="1645920">
                  <a:extLst>
                    <a:ext uri="{9D8B030D-6E8A-4147-A177-3AD203B41FA5}">
                      <a16:colId xmlns:a16="http://schemas.microsoft.com/office/drawing/2014/main" val="1593282277"/>
                    </a:ext>
                  </a:extLst>
                </a:gridCol>
                <a:gridCol w="1645920">
                  <a:extLst>
                    <a:ext uri="{9D8B030D-6E8A-4147-A177-3AD203B41FA5}">
                      <a16:colId xmlns:a16="http://schemas.microsoft.com/office/drawing/2014/main" val="1777490265"/>
                    </a:ext>
                  </a:extLst>
                </a:gridCol>
              </a:tblGrid>
              <a:tr h="0">
                <a:tc>
                  <a:txBody>
                    <a:bodyPr/>
                    <a:lstStyle/>
                    <a:p>
                      <a:r>
                        <a:rPr lang="en-US" dirty="0"/>
                        <a:t>Statistic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TV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Radio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Newspaper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dirty="0"/>
                        <a:t>Sales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74624192"/>
                  </a:ext>
                </a:extLst>
              </a:tr>
              <a:tr h="0">
                <a:tc>
                  <a:txBody>
                    <a:bodyPr/>
                    <a:lstStyle/>
                    <a:p>
                      <a:r>
                        <a:rPr lang="en-US" b="1" dirty="0"/>
                        <a:t>Mean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147.04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23.264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30.554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15.1305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7345822"/>
                  </a:ext>
                </a:extLst>
              </a:tr>
              <a:tr h="0">
                <a:tc>
                  <a:txBody>
                    <a:bodyPr/>
                    <a:lstStyle/>
                    <a:p>
                      <a:r>
                        <a:rPr lang="en-US" b="1" dirty="0"/>
                        <a:t>Median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149.75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22.900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25.750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16.000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0771376"/>
                  </a:ext>
                </a:extLst>
              </a:tr>
              <a:tr h="0">
                <a:tc>
                  <a:txBody>
                    <a:bodyPr/>
                    <a:lstStyle/>
                    <a:p>
                      <a:r>
                        <a:rPr lang="en-US" b="1" dirty="0"/>
                        <a:t>SD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85.8542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14.8468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21.7786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5.2839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8933416"/>
                  </a:ext>
                </a:extLst>
              </a:tr>
              <a:tr h="0">
                <a:tc>
                  <a:txBody>
                    <a:bodyPr/>
                    <a:lstStyle/>
                    <a:p>
                      <a:r>
                        <a:rPr lang="en-US" b="1" dirty="0"/>
                        <a:t>Min.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2289806"/>
                  </a:ext>
                </a:extLst>
              </a:tr>
              <a:tr h="0">
                <a:tc>
                  <a:txBody>
                    <a:bodyPr/>
                    <a:lstStyle/>
                    <a:p>
                      <a:r>
                        <a:rPr lang="en-US" b="1" dirty="0"/>
                        <a:t>1st Qu.</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74.38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9.975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12.75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0095836"/>
                  </a:ext>
                </a:extLst>
              </a:tr>
              <a:tr h="0">
                <a:tc>
                  <a:txBody>
                    <a:bodyPr/>
                    <a:lstStyle/>
                    <a:p>
                      <a:r>
                        <a:rPr lang="en-US" b="1" dirty="0"/>
                        <a:t>3rd Qu.</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218.82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36.525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45.10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19.05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49033762"/>
                  </a:ext>
                </a:extLst>
              </a:tr>
              <a:tr h="0">
                <a:tc>
                  <a:txBody>
                    <a:bodyPr/>
                    <a:lstStyle/>
                    <a:p>
                      <a:r>
                        <a:rPr lang="en-US" b="1" dirty="0"/>
                        <a:t>Max.</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296.40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49.600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114.00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27.00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415117"/>
                  </a:ext>
                </a:extLst>
              </a:tr>
            </a:tbl>
          </a:graphicData>
        </a:graphic>
      </p:graphicFrame>
      <p:sp>
        <p:nvSpPr>
          <p:cNvPr id="29" name="Slide Number Placeholder 28">
            <a:extLst>
              <a:ext uri="{FF2B5EF4-FFF2-40B4-BE49-F238E27FC236}">
                <a16:creationId xmlns:a16="http://schemas.microsoft.com/office/drawing/2014/main" id="{E7F6B72C-958B-DA0B-90DB-7F340F3EA983}"/>
              </a:ext>
            </a:extLst>
          </p:cNvPr>
          <p:cNvSpPr>
            <a:spLocks noGrp="1"/>
          </p:cNvSpPr>
          <p:nvPr>
            <p:ph type="sldNum" sz="quarter" idx="12"/>
          </p:nvPr>
        </p:nvSpPr>
        <p:spPr/>
        <p:txBody>
          <a:bodyPr/>
          <a:lstStyle/>
          <a:p>
            <a:fld id="{C1FF6DA9-008F-8B48-92A6-B652298478BF}" type="slidenum">
              <a:rPr lang="en-US" smtClean="0"/>
              <a:t>3</a:t>
            </a:fld>
            <a:endParaRPr lang="en-US" dirty="0"/>
          </a:p>
        </p:txBody>
      </p:sp>
      <p:sp>
        <p:nvSpPr>
          <p:cNvPr id="4" name="TextBox 3">
            <a:extLst>
              <a:ext uri="{FF2B5EF4-FFF2-40B4-BE49-F238E27FC236}">
                <a16:creationId xmlns:a16="http://schemas.microsoft.com/office/drawing/2014/main" id="{860A6341-018E-CB93-D3CE-C8C3CAF34F48}"/>
              </a:ext>
            </a:extLst>
          </p:cNvPr>
          <p:cNvSpPr txBox="1"/>
          <p:nvPr/>
        </p:nvSpPr>
        <p:spPr>
          <a:xfrm>
            <a:off x="1096206" y="5296905"/>
            <a:ext cx="7666181" cy="923330"/>
          </a:xfrm>
          <a:prstGeom prst="rect">
            <a:avLst/>
          </a:prstGeom>
          <a:noFill/>
        </p:spPr>
        <p:txBody>
          <a:bodyPr wrap="square">
            <a:spAutoFit/>
          </a:bodyPr>
          <a:lstStyle/>
          <a:p>
            <a:r>
              <a:rPr lang="en-US" dirty="0"/>
              <a:t>TV has the highest average spending, Newspaper shows the most variation, and ad investments are right-skewed, influencing stable Sales.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5591" y="305133"/>
            <a:ext cx="6589199" cy="1280890"/>
          </a:xfrm>
        </p:spPr>
        <p:txBody>
          <a:bodyPr>
            <a:normAutofit/>
          </a:bodyPr>
          <a:lstStyle/>
          <a:p>
            <a:r>
              <a:rPr dirty="0"/>
              <a:t>Data Visualization: Distribution Analysis</a:t>
            </a:r>
          </a:p>
        </p:txBody>
      </p:sp>
      <p:pic>
        <p:nvPicPr>
          <p:cNvPr id="5" name="Content Placeholder 4">
            <a:extLst>
              <a:ext uri="{FF2B5EF4-FFF2-40B4-BE49-F238E27FC236}">
                <a16:creationId xmlns:a16="http://schemas.microsoft.com/office/drawing/2014/main" id="{097D1787-F39F-C064-09F3-356DF5A48123}"/>
              </a:ext>
            </a:extLst>
          </p:cNvPr>
          <p:cNvPicPr>
            <a:picLocks noGrp="1" noChangeAspect="1"/>
          </p:cNvPicPr>
          <p:nvPr>
            <p:ph idx="1"/>
          </p:nvPr>
        </p:nvPicPr>
        <p:blipFill>
          <a:blip r:embed="rId2"/>
          <a:stretch>
            <a:fillRect/>
          </a:stretch>
        </p:blipFill>
        <p:spPr>
          <a:xfrm>
            <a:off x="1302588" y="1676432"/>
            <a:ext cx="7215204" cy="4876435"/>
          </a:xfrm>
          <a:prstGeom prst="rect">
            <a:avLst/>
          </a:prstGeom>
        </p:spPr>
      </p:pic>
      <p:sp>
        <p:nvSpPr>
          <p:cNvPr id="7" name="Slide Number Placeholder 6">
            <a:extLst>
              <a:ext uri="{FF2B5EF4-FFF2-40B4-BE49-F238E27FC236}">
                <a16:creationId xmlns:a16="http://schemas.microsoft.com/office/drawing/2014/main" id="{0F10916F-19B5-6E15-870C-3EE4170345DD}"/>
              </a:ext>
            </a:extLst>
          </p:cNvPr>
          <p:cNvSpPr>
            <a:spLocks noGrp="1"/>
          </p:cNvSpPr>
          <p:nvPr>
            <p:ph type="sldNum" sz="quarter" idx="12"/>
          </p:nvPr>
        </p:nvSpPr>
        <p:spPr/>
        <p:txBody>
          <a:bodyPr/>
          <a:lstStyle/>
          <a:p>
            <a:fld id="{C1FF6DA9-008F-8B48-92A6-B652298478BF}" type="slidenum">
              <a:rPr lang="en-US" smtClean="0"/>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CF31-DBDD-A07D-649E-FF61D0CCD0A4}"/>
              </a:ext>
            </a:extLst>
          </p:cNvPr>
          <p:cNvSpPr>
            <a:spLocks noGrp="1"/>
          </p:cNvSpPr>
          <p:nvPr>
            <p:ph type="title"/>
          </p:nvPr>
        </p:nvSpPr>
        <p:spPr/>
        <p:txBody>
          <a:bodyPr/>
          <a:lstStyle/>
          <a:p>
            <a:r>
              <a:rPr lang="en-US" dirty="0"/>
              <a:t>Histograms</a:t>
            </a:r>
          </a:p>
        </p:txBody>
      </p:sp>
      <p:pic>
        <p:nvPicPr>
          <p:cNvPr id="5" name="Content Placeholder 4">
            <a:extLst>
              <a:ext uri="{FF2B5EF4-FFF2-40B4-BE49-F238E27FC236}">
                <a16:creationId xmlns:a16="http://schemas.microsoft.com/office/drawing/2014/main" id="{BFE4267D-1F22-8E90-EDE9-5E62C1F6BB5E}"/>
              </a:ext>
            </a:extLst>
          </p:cNvPr>
          <p:cNvPicPr>
            <a:picLocks noGrp="1" noChangeAspect="1"/>
          </p:cNvPicPr>
          <p:nvPr>
            <p:ph idx="1"/>
          </p:nvPr>
        </p:nvPicPr>
        <p:blipFill>
          <a:blip r:embed="rId2"/>
          <a:stretch>
            <a:fillRect/>
          </a:stretch>
        </p:blipFill>
        <p:spPr>
          <a:xfrm>
            <a:off x="1207466" y="1414918"/>
            <a:ext cx="7326934" cy="4951949"/>
          </a:xfrm>
          <a:prstGeom prst="rect">
            <a:avLst/>
          </a:prstGeom>
        </p:spPr>
      </p:pic>
      <p:sp>
        <p:nvSpPr>
          <p:cNvPr id="7" name="Slide Number Placeholder 6">
            <a:extLst>
              <a:ext uri="{FF2B5EF4-FFF2-40B4-BE49-F238E27FC236}">
                <a16:creationId xmlns:a16="http://schemas.microsoft.com/office/drawing/2014/main" id="{BE94A28B-BE7C-BA4A-7E7F-95E279B340B0}"/>
              </a:ext>
            </a:extLst>
          </p:cNvPr>
          <p:cNvSpPr>
            <a:spLocks noGrp="1"/>
          </p:cNvSpPr>
          <p:nvPr>
            <p:ph type="sldNum" sz="quarter" idx="12"/>
          </p:nvPr>
        </p:nvSpPr>
        <p:spPr/>
        <p:txBody>
          <a:bodyPr/>
          <a:lstStyle/>
          <a:p>
            <a:fld id="{C1FF6DA9-008F-8B48-92A6-B652298478BF}" type="slidenum">
              <a:rPr lang="en-US" smtClean="0"/>
              <a:t>5</a:t>
            </a:fld>
            <a:endParaRPr lang="en-US" dirty="0"/>
          </a:p>
        </p:txBody>
      </p:sp>
    </p:spTree>
    <p:extLst>
      <p:ext uri="{BB962C8B-B14F-4D97-AF65-F5344CB8AC3E}">
        <p14:creationId xmlns:p14="http://schemas.microsoft.com/office/powerpoint/2010/main" val="4131007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044672-8D97-B47E-0D44-4DF2FDC69F3E}"/>
              </a:ext>
            </a:extLst>
          </p:cNvPr>
          <p:cNvPicPr>
            <a:picLocks noGrp="1" noChangeAspect="1"/>
          </p:cNvPicPr>
          <p:nvPr>
            <p:ph idx="1"/>
          </p:nvPr>
        </p:nvPicPr>
        <p:blipFill>
          <a:blip r:embed="rId2"/>
          <a:stretch>
            <a:fillRect/>
          </a:stretch>
        </p:blipFill>
        <p:spPr>
          <a:xfrm>
            <a:off x="1699491" y="419391"/>
            <a:ext cx="7154030" cy="5028459"/>
          </a:xfrm>
          <a:prstGeom prst="rect">
            <a:avLst/>
          </a:prstGeom>
        </p:spPr>
      </p:pic>
      <p:sp>
        <p:nvSpPr>
          <p:cNvPr id="7" name="Slide Number Placeholder 6">
            <a:extLst>
              <a:ext uri="{FF2B5EF4-FFF2-40B4-BE49-F238E27FC236}">
                <a16:creationId xmlns:a16="http://schemas.microsoft.com/office/drawing/2014/main" id="{0DCA991E-D5FD-290E-6D1D-39F94B395A4E}"/>
              </a:ext>
            </a:extLst>
          </p:cNvPr>
          <p:cNvSpPr>
            <a:spLocks noGrp="1"/>
          </p:cNvSpPr>
          <p:nvPr>
            <p:ph type="sldNum" sz="quarter" idx="12"/>
          </p:nvPr>
        </p:nvSpPr>
        <p:spPr/>
        <p:txBody>
          <a:bodyPr/>
          <a:lstStyle/>
          <a:p>
            <a:fld id="{C1FF6DA9-008F-8B48-92A6-B652298478BF}" type="slidenum">
              <a:rPr lang="en-US" smtClean="0"/>
              <a:t>6</a:t>
            </a:fld>
            <a:endParaRPr lang="en-US" dirty="0"/>
          </a:p>
        </p:txBody>
      </p:sp>
      <p:sp>
        <p:nvSpPr>
          <p:cNvPr id="3" name="TextBox 2">
            <a:extLst>
              <a:ext uri="{FF2B5EF4-FFF2-40B4-BE49-F238E27FC236}">
                <a16:creationId xmlns:a16="http://schemas.microsoft.com/office/drawing/2014/main" id="{67E2D27F-17CA-DA7A-511A-8A725F8193FE}"/>
              </a:ext>
            </a:extLst>
          </p:cNvPr>
          <p:cNvSpPr txBox="1"/>
          <p:nvPr/>
        </p:nvSpPr>
        <p:spPr>
          <a:xfrm>
            <a:off x="1454726" y="5869863"/>
            <a:ext cx="7310583" cy="646331"/>
          </a:xfrm>
          <a:prstGeom prst="rect">
            <a:avLst/>
          </a:prstGeom>
          <a:noFill/>
        </p:spPr>
        <p:txBody>
          <a:bodyPr wrap="square">
            <a:spAutoFit/>
          </a:bodyPr>
          <a:lstStyle/>
          <a:p>
            <a:r>
              <a:rPr lang="en-US" b="1" dirty="0"/>
              <a:t>Sales</a:t>
            </a:r>
            <a:r>
              <a:rPr lang="en-US" dirty="0"/>
              <a:t> has a clear positive linear relationship with </a:t>
            </a:r>
            <a:r>
              <a:rPr lang="en-US" b="1" dirty="0"/>
              <a:t>TV</a:t>
            </a:r>
            <a:r>
              <a:rPr lang="en-US" dirty="0"/>
              <a:t> and </a:t>
            </a:r>
            <a:r>
              <a:rPr lang="en-US" b="1" dirty="0"/>
              <a:t>Radio</a:t>
            </a:r>
            <a:r>
              <a:rPr lang="en-US" dirty="0"/>
              <a:t> but a weaker correlation with </a:t>
            </a:r>
            <a:r>
              <a:rPr lang="en-US" b="1" dirty="0"/>
              <a:t>Newspaper</a:t>
            </a:r>
            <a:r>
              <a:rPr lang="en-US" dirty="0"/>
              <a:t>.</a:t>
            </a:r>
          </a:p>
        </p:txBody>
      </p:sp>
    </p:spTree>
    <p:extLst>
      <p:ext uri="{BB962C8B-B14F-4D97-AF65-F5344CB8AC3E}">
        <p14:creationId xmlns:p14="http://schemas.microsoft.com/office/powerpoint/2010/main" val="1209784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Correlation Matrix</a:t>
            </a:r>
          </a:p>
        </p:txBody>
      </p:sp>
      <p:graphicFrame>
        <p:nvGraphicFramePr>
          <p:cNvPr id="8" name="Content Placeholder 7">
            <a:extLst>
              <a:ext uri="{FF2B5EF4-FFF2-40B4-BE49-F238E27FC236}">
                <a16:creationId xmlns:a16="http://schemas.microsoft.com/office/drawing/2014/main" id="{E3A9E5AE-EB8C-B9DB-B288-E4460F2B402B}"/>
              </a:ext>
            </a:extLst>
          </p:cNvPr>
          <p:cNvGraphicFramePr>
            <a:graphicFrameLocks noGrp="1"/>
          </p:cNvGraphicFramePr>
          <p:nvPr>
            <p:ph idx="1"/>
            <p:extLst>
              <p:ext uri="{D42A27DB-BD31-4B8C-83A1-F6EECF244321}">
                <p14:modId xmlns:p14="http://schemas.microsoft.com/office/powerpoint/2010/main" val="1257323939"/>
              </p:ext>
            </p:extLst>
          </p:nvPr>
        </p:nvGraphicFramePr>
        <p:xfrm>
          <a:off x="1161240" y="2270842"/>
          <a:ext cx="7289351" cy="2975365"/>
        </p:xfrm>
        <a:graphic>
          <a:graphicData uri="http://schemas.openxmlformats.org/drawingml/2006/table">
            <a:tbl>
              <a:tblPr/>
              <a:tblGrid>
                <a:gridCol w="1476119">
                  <a:extLst>
                    <a:ext uri="{9D8B030D-6E8A-4147-A177-3AD203B41FA5}">
                      <a16:colId xmlns:a16="http://schemas.microsoft.com/office/drawing/2014/main" val="2311163207"/>
                    </a:ext>
                  </a:extLst>
                </a:gridCol>
                <a:gridCol w="1476119">
                  <a:extLst>
                    <a:ext uri="{9D8B030D-6E8A-4147-A177-3AD203B41FA5}">
                      <a16:colId xmlns:a16="http://schemas.microsoft.com/office/drawing/2014/main" val="1343395184"/>
                    </a:ext>
                  </a:extLst>
                </a:gridCol>
                <a:gridCol w="1476119">
                  <a:extLst>
                    <a:ext uri="{9D8B030D-6E8A-4147-A177-3AD203B41FA5}">
                      <a16:colId xmlns:a16="http://schemas.microsoft.com/office/drawing/2014/main" val="3199801625"/>
                    </a:ext>
                  </a:extLst>
                </a:gridCol>
                <a:gridCol w="1476119">
                  <a:extLst>
                    <a:ext uri="{9D8B030D-6E8A-4147-A177-3AD203B41FA5}">
                      <a16:colId xmlns:a16="http://schemas.microsoft.com/office/drawing/2014/main" val="2812341019"/>
                    </a:ext>
                  </a:extLst>
                </a:gridCol>
                <a:gridCol w="1384875">
                  <a:extLst>
                    <a:ext uri="{9D8B030D-6E8A-4147-A177-3AD203B41FA5}">
                      <a16:colId xmlns:a16="http://schemas.microsoft.com/office/drawing/2014/main" val="3912486033"/>
                    </a:ext>
                  </a:extLst>
                </a:gridCol>
              </a:tblGrid>
              <a:tr h="595073">
                <a:tc>
                  <a:txBody>
                    <a:bodyPr/>
                    <a:lstStyle/>
                    <a:p>
                      <a:r>
                        <a:rPr lang="en-US" b="1" dirty="0"/>
                        <a:t>Variable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TV</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Radio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Newspaper</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Sales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9574905"/>
                  </a:ext>
                </a:extLst>
              </a:tr>
              <a:tr h="595073">
                <a:tc>
                  <a:txBody>
                    <a:bodyPr/>
                    <a:lstStyle/>
                    <a:p>
                      <a:r>
                        <a:rPr lang="en-US" b="1" dirty="0"/>
                        <a:t>TV</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1.000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0.901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4041441"/>
                  </a:ext>
                </a:extLst>
              </a:tr>
              <a:tr h="595073">
                <a:tc>
                  <a:txBody>
                    <a:bodyPr/>
                    <a:lstStyle/>
                    <a:p>
                      <a:r>
                        <a:rPr lang="en-US" b="1" dirty="0"/>
                        <a:t>Radio</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1.000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0.354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0.350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8631555"/>
                  </a:ext>
                </a:extLst>
              </a:tr>
              <a:tr h="595073">
                <a:tc>
                  <a:txBody>
                    <a:bodyPr/>
                    <a:lstStyle/>
                    <a:p>
                      <a:r>
                        <a:rPr lang="en-US" b="1" dirty="0"/>
                        <a:t>Newspaper</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0.354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1.000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0.158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4281828"/>
                  </a:ext>
                </a:extLst>
              </a:tr>
              <a:tr h="595073">
                <a:tc>
                  <a:txBody>
                    <a:bodyPr/>
                    <a:lstStyle/>
                    <a:p>
                      <a:r>
                        <a:rPr lang="en-US" b="1" dirty="0"/>
                        <a:t>Sales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0.901</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0.350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0.158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1.000</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5421255"/>
                  </a:ext>
                </a:extLst>
              </a:tr>
            </a:tbl>
          </a:graphicData>
        </a:graphic>
      </p:graphicFrame>
      <p:sp>
        <p:nvSpPr>
          <p:cNvPr id="12" name="Slide Number Placeholder 11">
            <a:extLst>
              <a:ext uri="{FF2B5EF4-FFF2-40B4-BE49-F238E27FC236}">
                <a16:creationId xmlns:a16="http://schemas.microsoft.com/office/drawing/2014/main" id="{4953B888-A718-29E5-E64E-90E729C3CAA8}"/>
              </a:ext>
            </a:extLst>
          </p:cNvPr>
          <p:cNvSpPr>
            <a:spLocks noGrp="1"/>
          </p:cNvSpPr>
          <p:nvPr>
            <p:ph type="sldNum" sz="quarter" idx="12"/>
          </p:nvPr>
        </p:nvSpPr>
        <p:spPr/>
        <p:txBody>
          <a:bodyPr/>
          <a:lstStyle/>
          <a:p>
            <a:fld id="{C1FF6DA9-008F-8B48-92A6-B652298478BF}" type="slidenum">
              <a:rPr lang="en-US" smtClean="0"/>
              <a:t>7</a:t>
            </a:fld>
            <a:endParaRPr lang="en-US" dirty="0"/>
          </a:p>
        </p:txBody>
      </p:sp>
      <p:sp>
        <p:nvSpPr>
          <p:cNvPr id="4" name="TextBox 3">
            <a:extLst>
              <a:ext uri="{FF2B5EF4-FFF2-40B4-BE49-F238E27FC236}">
                <a16:creationId xmlns:a16="http://schemas.microsoft.com/office/drawing/2014/main" id="{A9ED783A-5855-9403-D8BF-CDBD3015352C}"/>
              </a:ext>
            </a:extLst>
          </p:cNvPr>
          <p:cNvSpPr txBox="1"/>
          <p:nvPr/>
        </p:nvSpPr>
        <p:spPr>
          <a:xfrm>
            <a:off x="1167718" y="5654571"/>
            <a:ext cx="7282873" cy="646331"/>
          </a:xfrm>
          <a:prstGeom prst="rect">
            <a:avLst/>
          </a:prstGeom>
          <a:noFill/>
        </p:spPr>
        <p:txBody>
          <a:bodyPr wrap="square">
            <a:spAutoFit/>
          </a:bodyPr>
          <a:lstStyle/>
          <a:p>
            <a:pPr algn="just"/>
            <a:r>
              <a:rPr lang="en-US" dirty="0"/>
              <a:t>TV advertising has the strongest impact on Sales, followed by Radio. Newspaper advertising has a minimal effect.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3434-20A1-5ADF-7543-AFAE6AEFADB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6480FDB-618E-6478-84CD-E6E6C403450E}"/>
              </a:ext>
            </a:extLst>
          </p:cNvPr>
          <p:cNvSpPr>
            <a:spLocks noGrp="1"/>
          </p:cNvSpPr>
          <p:nvPr>
            <p:ph type="sldNum" sz="quarter" idx="12"/>
          </p:nvPr>
        </p:nvSpPr>
        <p:spPr/>
        <p:txBody>
          <a:bodyPr/>
          <a:lstStyle/>
          <a:p>
            <a:fld id="{C1FF6DA9-008F-8B48-92A6-B652298478BF}" type="slidenum">
              <a:rPr lang="en-US" smtClean="0"/>
              <a:t>8</a:t>
            </a:fld>
            <a:endParaRPr lang="en-US" dirty="0"/>
          </a:p>
        </p:txBody>
      </p:sp>
      <p:sp>
        <p:nvSpPr>
          <p:cNvPr id="8" name="Rectangle 5">
            <a:extLst>
              <a:ext uri="{FF2B5EF4-FFF2-40B4-BE49-F238E27FC236}">
                <a16:creationId xmlns:a16="http://schemas.microsoft.com/office/drawing/2014/main" id="{DFBEA1F7-F4FD-B24B-8CE4-B275CB7F59E4}"/>
              </a:ext>
            </a:extLst>
          </p:cNvPr>
          <p:cNvSpPr>
            <a:spLocks noChangeArrowheads="1"/>
          </p:cNvSpPr>
          <p:nvPr/>
        </p:nvSpPr>
        <p:spPr bwMode="auto">
          <a:xfrm rot="10800000" flipV="1">
            <a:off x="1096206" y="5479644"/>
            <a:ext cx="812110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TV</a:t>
            </a:r>
            <a:r>
              <a:rPr kumimoji="0" lang="en-US" altLang="en-US" sz="1800" b="0" i="0" u="none" strike="noStrike" cap="none" normalizeH="0" baseline="0" dirty="0">
                <a:ln>
                  <a:noFill/>
                </a:ln>
                <a:solidFill>
                  <a:schemeClr val="tx1"/>
                </a:solidFill>
                <a:effectLst/>
                <a:latin typeface="Arial" panose="020B0604020202020204" pitchFamily="34" charset="0"/>
              </a:rPr>
              <a:t> advertising is the most effective predictor of sales by far.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Radio</a:t>
            </a:r>
            <a:r>
              <a:rPr kumimoji="0" lang="en-US" altLang="en-US" sz="1800" b="0" i="0" u="none" strike="noStrike" cap="none" normalizeH="0" baseline="0" dirty="0">
                <a:ln>
                  <a:noFill/>
                </a:ln>
                <a:solidFill>
                  <a:schemeClr val="tx1"/>
                </a:solidFill>
                <a:effectLst/>
                <a:latin typeface="Arial" panose="020B0604020202020204" pitchFamily="34" charset="0"/>
              </a:rPr>
              <a:t> has a weak effect, but it's still better than </a:t>
            </a:r>
            <a:r>
              <a:rPr kumimoji="0" lang="en-US" altLang="en-US" sz="1800" b="1" i="0" u="none" strike="noStrike" cap="none" normalizeH="0" baseline="0" dirty="0">
                <a:ln>
                  <a:noFill/>
                </a:ln>
                <a:solidFill>
                  <a:schemeClr val="tx1"/>
                </a:solidFill>
                <a:effectLst/>
                <a:latin typeface="Arial" panose="020B0604020202020204" pitchFamily="34" charset="0"/>
              </a:rPr>
              <a:t>Newspaper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Newspaper</a:t>
            </a:r>
            <a:r>
              <a:rPr kumimoji="0" lang="en-US" altLang="en-US" sz="1800" b="0" i="0" u="none" strike="noStrike" cap="none" normalizeH="0" baseline="0" dirty="0">
                <a:ln>
                  <a:noFill/>
                </a:ln>
                <a:solidFill>
                  <a:schemeClr val="tx1"/>
                </a:solidFill>
                <a:effectLst/>
                <a:latin typeface="Arial" panose="020B0604020202020204" pitchFamily="34" charset="0"/>
              </a:rPr>
              <a:t> advertising shows almost no influence on Sales.</a:t>
            </a:r>
          </a:p>
        </p:txBody>
      </p:sp>
      <p:pic>
        <p:nvPicPr>
          <p:cNvPr id="12" name="Picture 11">
            <a:extLst>
              <a:ext uri="{FF2B5EF4-FFF2-40B4-BE49-F238E27FC236}">
                <a16:creationId xmlns:a16="http://schemas.microsoft.com/office/drawing/2014/main" id="{7332D0DB-DA34-E28B-617D-0FB5F9D38FE3}"/>
              </a:ext>
            </a:extLst>
          </p:cNvPr>
          <p:cNvPicPr>
            <a:picLocks noChangeAspect="1"/>
          </p:cNvPicPr>
          <p:nvPr/>
        </p:nvPicPr>
        <p:blipFill>
          <a:blip r:embed="rId2"/>
          <a:stretch>
            <a:fillRect/>
          </a:stretch>
        </p:blipFill>
        <p:spPr>
          <a:xfrm>
            <a:off x="347662" y="1625588"/>
            <a:ext cx="8448675" cy="3381375"/>
          </a:xfrm>
          <a:prstGeom prst="rect">
            <a:avLst/>
          </a:prstGeom>
        </p:spPr>
      </p:pic>
    </p:spTree>
    <p:extLst>
      <p:ext uri="{BB962C8B-B14F-4D97-AF65-F5344CB8AC3E}">
        <p14:creationId xmlns:p14="http://schemas.microsoft.com/office/powerpoint/2010/main" val="3284373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740871-E03B-8833-DFA3-B1D314E36C9B}"/>
              </a:ext>
            </a:extLst>
          </p:cNvPr>
          <p:cNvSpPr>
            <a:spLocks noGrp="1"/>
          </p:cNvSpPr>
          <p:nvPr>
            <p:ph type="sldNum" sz="quarter" idx="12"/>
          </p:nvPr>
        </p:nvSpPr>
        <p:spPr/>
        <p:txBody>
          <a:bodyPr/>
          <a:lstStyle/>
          <a:p>
            <a:fld id="{C1FF6DA9-008F-8B48-92A6-B652298478BF}" type="slidenum">
              <a:rPr lang="en-US" smtClean="0"/>
              <a:t>9</a:t>
            </a:fld>
            <a:endParaRPr lang="en-US" dirty="0"/>
          </a:p>
        </p:txBody>
      </p:sp>
      <p:pic>
        <p:nvPicPr>
          <p:cNvPr id="5" name="Content Placeholder 4">
            <a:extLst>
              <a:ext uri="{FF2B5EF4-FFF2-40B4-BE49-F238E27FC236}">
                <a16:creationId xmlns:a16="http://schemas.microsoft.com/office/drawing/2014/main" id="{49776484-DE33-C9CF-3BB9-4FC7CCAB7AD6}"/>
              </a:ext>
            </a:extLst>
          </p:cNvPr>
          <p:cNvPicPr>
            <a:picLocks noGrp="1" noChangeAspect="1"/>
          </p:cNvPicPr>
          <p:nvPr>
            <p:ph idx="1"/>
          </p:nvPr>
        </p:nvPicPr>
        <p:blipFill>
          <a:blip r:embed="rId2"/>
          <a:stretch>
            <a:fillRect/>
          </a:stretch>
        </p:blipFill>
        <p:spPr>
          <a:xfrm>
            <a:off x="303550" y="1641325"/>
            <a:ext cx="8840450" cy="4428892"/>
          </a:xfrm>
          <a:prstGeom prst="rect">
            <a:avLst/>
          </a:prstGeom>
        </p:spPr>
      </p:pic>
    </p:spTree>
    <p:extLst>
      <p:ext uri="{BB962C8B-B14F-4D97-AF65-F5344CB8AC3E}">
        <p14:creationId xmlns:p14="http://schemas.microsoft.com/office/powerpoint/2010/main" val="2558729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99C5C-6DA3-5768-30A5-E3B8BC552D03}"/>
              </a:ext>
            </a:extLst>
          </p:cNvPr>
          <p:cNvSpPr>
            <a:spLocks noGrp="1"/>
          </p:cNvSpPr>
          <p:nvPr>
            <p:ph type="title"/>
          </p:nvPr>
        </p:nvSpPr>
        <p:spPr>
          <a:xfrm>
            <a:off x="1598429" y="496519"/>
            <a:ext cx="7301023" cy="1280890"/>
          </a:xfrm>
        </p:spPr>
        <p:txBody>
          <a:bodyPr/>
          <a:lstStyle/>
          <a:p>
            <a:r>
              <a:rPr lang="en-US" dirty="0"/>
              <a:t>Simple Linear Regression Models</a:t>
            </a:r>
          </a:p>
        </p:txBody>
      </p:sp>
      <p:graphicFrame>
        <p:nvGraphicFramePr>
          <p:cNvPr id="12" name="Content Placeholder 11">
            <a:extLst>
              <a:ext uri="{FF2B5EF4-FFF2-40B4-BE49-F238E27FC236}">
                <a16:creationId xmlns:a16="http://schemas.microsoft.com/office/drawing/2014/main" id="{C9B492DB-7154-38E1-644B-9C3A8661FB42}"/>
              </a:ext>
            </a:extLst>
          </p:cNvPr>
          <p:cNvGraphicFramePr>
            <a:graphicFrameLocks noGrp="1"/>
          </p:cNvGraphicFramePr>
          <p:nvPr>
            <p:ph idx="1"/>
            <p:extLst>
              <p:ext uri="{D42A27DB-BD31-4B8C-83A1-F6EECF244321}">
                <p14:modId xmlns:p14="http://schemas.microsoft.com/office/powerpoint/2010/main" val="2213611905"/>
              </p:ext>
            </p:extLst>
          </p:nvPr>
        </p:nvGraphicFramePr>
        <p:xfrm>
          <a:off x="511228" y="1786646"/>
          <a:ext cx="8495415" cy="3810000"/>
        </p:xfrm>
        <a:graphic>
          <a:graphicData uri="http://schemas.openxmlformats.org/drawingml/2006/table">
            <a:tbl>
              <a:tblPr>
                <a:tableStyleId>{10A1B5D5-9B99-4C35-A422-299274C87663}</a:tableStyleId>
              </a:tblPr>
              <a:tblGrid>
                <a:gridCol w="952451">
                  <a:extLst>
                    <a:ext uri="{9D8B030D-6E8A-4147-A177-3AD203B41FA5}">
                      <a16:colId xmlns:a16="http://schemas.microsoft.com/office/drawing/2014/main" val="1371828373"/>
                    </a:ext>
                  </a:extLst>
                </a:gridCol>
                <a:gridCol w="1014572">
                  <a:extLst>
                    <a:ext uri="{9D8B030D-6E8A-4147-A177-3AD203B41FA5}">
                      <a16:colId xmlns:a16="http://schemas.microsoft.com/office/drawing/2014/main" val="3760233275"/>
                    </a:ext>
                  </a:extLst>
                </a:gridCol>
                <a:gridCol w="988828">
                  <a:extLst>
                    <a:ext uri="{9D8B030D-6E8A-4147-A177-3AD203B41FA5}">
                      <a16:colId xmlns:a16="http://schemas.microsoft.com/office/drawing/2014/main" val="1806523797"/>
                    </a:ext>
                  </a:extLst>
                </a:gridCol>
                <a:gridCol w="819889">
                  <a:extLst>
                    <a:ext uri="{9D8B030D-6E8A-4147-A177-3AD203B41FA5}">
                      <a16:colId xmlns:a16="http://schemas.microsoft.com/office/drawing/2014/main" val="3749454132"/>
                    </a:ext>
                  </a:extLst>
                </a:gridCol>
                <a:gridCol w="943935">
                  <a:extLst>
                    <a:ext uri="{9D8B030D-6E8A-4147-A177-3AD203B41FA5}">
                      <a16:colId xmlns:a16="http://schemas.microsoft.com/office/drawing/2014/main" val="2478612395"/>
                    </a:ext>
                  </a:extLst>
                </a:gridCol>
                <a:gridCol w="943935">
                  <a:extLst>
                    <a:ext uri="{9D8B030D-6E8A-4147-A177-3AD203B41FA5}">
                      <a16:colId xmlns:a16="http://schemas.microsoft.com/office/drawing/2014/main" val="1343939876"/>
                    </a:ext>
                  </a:extLst>
                </a:gridCol>
                <a:gridCol w="943935">
                  <a:extLst>
                    <a:ext uri="{9D8B030D-6E8A-4147-A177-3AD203B41FA5}">
                      <a16:colId xmlns:a16="http://schemas.microsoft.com/office/drawing/2014/main" val="1672235643"/>
                    </a:ext>
                  </a:extLst>
                </a:gridCol>
                <a:gridCol w="852209">
                  <a:extLst>
                    <a:ext uri="{9D8B030D-6E8A-4147-A177-3AD203B41FA5}">
                      <a16:colId xmlns:a16="http://schemas.microsoft.com/office/drawing/2014/main" val="2963578072"/>
                    </a:ext>
                  </a:extLst>
                </a:gridCol>
                <a:gridCol w="1035661">
                  <a:extLst>
                    <a:ext uri="{9D8B030D-6E8A-4147-A177-3AD203B41FA5}">
                      <a16:colId xmlns:a16="http://schemas.microsoft.com/office/drawing/2014/main" val="4061935174"/>
                    </a:ext>
                  </a:extLst>
                </a:gridCol>
              </a:tblGrid>
              <a:tr h="999344">
                <a:tc>
                  <a:txBody>
                    <a:bodyPr/>
                    <a:lstStyle/>
                    <a:p>
                      <a:r>
                        <a:rPr lang="en-US" sz="1600" b="1" dirty="0"/>
                        <a:t>Model</a:t>
                      </a:r>
                      <a:endParaRPr lang="en-US" sz="1600" dirty="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Intercept</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Coefficient</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a:t>Std. Error</a:t>
                      </a:r>
                      <a:endParaRPr lang="en-US" sz="1600" dirty="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t-value</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p-value</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R²</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Adj. R²</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Residual Std. Error (RSE)</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337735"/>
                  </a:ext>
                </a:extLst>
              </a:tr>
              <a:tr h="811967">
                <a:tc>
                  <a:txBody>
                    <a:bodyPr/>
                    <a:lstStyle/>
                    <a:p>
                      <a:r>
                        <a:rPr lang="en-US" sz="1600" b="1"/>
                        <a:t>TV vs. Sales</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6.9748</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0.0555</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0.0019</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29.26</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&lt; 2e-16 ***</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0.8122</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0.8112</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2.296</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0609461"/>
                  </a:ext>
                </a:extLst>
              </a:tr>
              <a:tr h="811967">
                <a:tc>
                  <a:txBody>
                    <a:bodyPr/>
                    <a:lstStyle/>
                    <a:p>
                      <a:r>
                        <a:rPr lang="en-US" sz="1600" b="1"/>
                        <a:t>Radio vs. Sales</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12.2357</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0.1244</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0.0237</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5.251</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3.88e-07 ***</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0.1222</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0.1178</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4.963</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0023247"/>
                  </a:ext>
                </a:extLst>
              </a:tr>
              <a:tr h="1186722">
                <a:tc>
                  <a:txBody>
                    <a:bodyPr/>
                    <a:lstStyle/>
                    <a:p>
                      <a:r>
                        <a:rPr lang="en-US" sz="1600" b="1"/>
                        <a:t>Newspaper vs. Sales</a:t>
                      </a:r>
                      <a:endParaRPr lang="en-US" sz="1600"/>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13.9596</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0.0383</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0.0170</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2.251</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0.0255 *</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0.0249</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0.0200</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5.231</a:t>
                      </a:r>
                    </a:p>
                  </a:txBody>
                  <a:tcPr marL="61939" marR="61939" marT="30969" marB="30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9390146"/>
                  </a:ext>
                </a:extLst>
              </a:tr>
            </a:tbl>
          </a:graphicData>
        </a:graphic>
      </p:graphicFrame>
      <p:sp>
        <p:nvSpPr>
          <p:cNvPr id="15" name="Slide Number Placeholder 14">
            <a:extLst>
              <a:ext uri="{FF2B5EF4-FFF2-40B4-BE49-F238E27FC236}">
                <a16:creationId xmlns:a16="http://schemas.microsoft.com/office/drawing/2014/main" id="{4652987C-4B32-E058-A0E6-DED3425C0CCA}"/>
              </a:ext>
            </a:extLst>
          </p:cNvPr>
          <p:cNvSpPr>
            <a:spLocks noGrp="1"/>
          </p:cNvSpPr>
          <p:nvPr>
            <p:ph type="sldNum" sz="quarter" idx="12"/>
          </p:nvPr>
        </p:nvSpPr>
        <p:spPr/>
        <p:txBody>
          <a:bodyPr/>
          <a:lstStyle/>
          <a:p>
            <a:fld id="{C1FF6DA9-008F-8B48-92A6-B652298478BF}" type="slidenum">
              <a:rPr lang="en-US" smtClean="0"/>
              <a:t>10</a:t>
            </a:fld>
            <a:endParaRPr lang="en-US" dirty="0"/>
          </a:p>
        </p:txBody>
      </p:sp>
    </p:spTree>
    <p:extLst>
      <p:ext uri="{BB962C8B-B14F-4D97-AF65-F5344CB8AC3E}">
        <p14:creationId xmlns:p14="http://schemas.microsoft.com/office/powerpoint/2010/main" val="1017033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Multiple Linear Regression</a:t>
            </a:r>
          </a:p>
        </p:txBody>
      </p:sp>
      <p:sp>
        <p:nvSpPr>
          <p:cNvPr id="7" name="Content Placeholder 6">
            <a:extLst>
              <a:ext uri="{FF2B5EF4-FFF2-40B4-BE49-F238E27FC236}">
                <a16:creationId xmlns:a16="http://schemas.microsoft.com/office/drawing/2014/main" id="{B4A9C95D-94DB-B33E-B89A-3F681BFCADE4}"/>
              </a:ext>
            </a:extLst>
          </p:cNvPr>
          <p:cNvSpPr>
            <a:spLocks noGrp="1"/>
          </p:cNvSpPr>
          <p:nvPr>
            <p:ph idx="1"/>
          </p:nvPr>
        </p:nvSpPr>
        <p:spPr>
          <a:xfrm>
            <a:off x="457200" y="1753899"/>
            <a:ext cx="8229600" cy="3858961"/>
          </a:xfrm>
        </p:spPr>
        <p:txBody>
          <a:bodyPr>
            <a:normAutofit/>
          </a:bodyPr>
          <a:lstStyle/>
          <a:p>
            <a:pPr algn="just"/>
            <a:r>
              <a:rPr lang="en-US" sz="2400" dirty="0"/>
              <a:t>We aim to build a </a:t>
            </a:r>
            <a:r>
              <a:rPr lang="en-US" sz="2400" b="1" dirty="0"/>
              <a:t>multiple regression model</a:t>
            </a:r>
            <a:r>
              <a:rPr lang="en-US" sz="2400" dirty="0"/>
              <a:t> to examine the relationship between </a:t>
            </a:r>
            <a:r>
              <a:rPr lang="en-US" sz="2400" b="1" dirty="0"/>
              <a:t>Sales</a:t>
            </a:r>
            <a:r>
              <a:rPr lang="en-US" sz="2400" dirty="0"/>
              <a:t> (dependent variable) and three advertising channels—</a:t>
            </a:r>
            <a:r>
              <a:rPr lang="en-US" sz="2400" b="1" dirty="0"/>
              <a:t>TV, Radio, and Newspaper</a:t>
            </a:r>
            <a:r>
              <a:rPr lang="en-US" sz="2400" dirty="0"/>
              <a:t> (independent variables). By fitting this model, we can determine how each advertising medium influences sales and assess their overall effectiveness in driving revenue.</a:t>
            </a:r>
          </a:p>
        </p:txBody>
      </p:sp>
      <p:sp>
        <p:nvSpPr>
          <p:cNvPr id="15" name="TextBox 14">
            <a:extLst>
              <a:ext uri="{FF2B5EF4-FFF2-40B4-BE49-F238E27FC236}">
                <a16:creationId xmlns:a16="http://schemas.microsoft.com/office/drawing/2014/main" id="{F457B758-93FD-ED8D-592E-9646FEAA82AD}"/>
              </a:ext>
            </a:extLst>
          </p:cNvPr>
          <p:cNvSpPr txBox="1"/>
          <p:nvPr/>
        </p:nvSpPr>
        <p:spPr>
          <a:xfrm>
            <a:off x="1556425" y="5058992"/>
            <a:ext cx="6589199" cy="1077218"/>
          </a:xfrm>
          <a:prstGeom prst="rect">
            <a:avLst/>
          </a:prstGeom>
          <a:noFill/>
        </p:spPr>
        <p:txBody>
          <a:bodyPr wrap="square" rtlCol="0">
            <a:spAutoFit/>
          </a:bodyPr>
          <a:lstStyle/>
          <a:p>
            <a:r>
              <a:rPr lang="en-US" sz="3200" dirty="0"/>
              <a:t>Sales ~ TV + Radio + Newspaper</a:t>
            </a:r>
          </a:p>
          <a:p>
            <a:endParaRPr lang="en-US" sz="3200" dirty="0"/>
          </a:p>
        </p:txBody>
      </p:sp>
      <p:sp>
        <p:nvSpPr>
          <p:cNvPr id="26" name="Content Placeholder 6">
            <a:extLst>
              <a:ext uri="{FF2B5EF4-FFF2-40B4-BE49-F238E27FC236}">
                <a16:creationId xmlns:a16="http://schemas.microsoft.com/office/drawing/2014/main" id="{EC9A10FB-9350-2F96-6310-CC804A131AD6}"/>
              </a:ext>
            </a:extLst>
          </p:cNvPr>
          <p:cNvSpPr txBox="1">
            <a:spLocks/>
          </p:cNvSpPr>
          <p:nvPr/>
        </p:nvSpPr>
        <p:spPr>
          <a:xfrm>
            <a:off x="457200" y="1610247"/>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dirty="0"/>
          </a:p>
        </p:txBody>
      </p:sp>
      <p:sp>
        <p:nvSpPr>
          <p:cNvPr id="36" name="Slide Number Placeholder 35">
            <a:extLst>
              <a:ext uri="{FF2B5EF4-FFF2-40B4-BE49-F238E27FC236}">
                <a16:creationId xmlns:a16="http://schemas.microsoft.com/office/drawing/2014/main" id="{27E4D7A1-B3BD-8554-A201-DF6808792F82}"/>
              </a:ext>
            </a:extLst>
          </p:cNvPr>
          <p:cNvSpPr>
            <a:spLocks noGrp="1"/>
          </p:cNvSpPr>
          <p:nvPr>
            <p:ph type="sldNum" sz="quarter" idx="12"/>
          </p:nvPr>
        </p:nvSpPr>
        <p:spPr/>
        <p:txBody>
          <a:bodyPr/>
          <a:lstStyle/>
          <a:p>
            <a:fld id="{C1FF6DA9-008F-8B48-92A6-B652298478BF}"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Regression Results</a:t>
            </a:r>
          </a:p>
        </p:txBody>
      </p:sp>
      <p:graphicFrame>
        <p:nvGraphicFramePr>
          <p:cNvPr id="34" name="Content Placeholder 33">
            <a:extLst>
              <a:ext uri="{FF2B5EF4-FFF2-40B4-BE49-F238E27FC236}">
                <a16:creationId xmlns:a16="http://schemas.microsoft.com/office/drawing/2014/main" id="{416F584E-023A-3F93-1D30-F3D0D8CACBAC}"/>
              </a:ext>
            </a:extLst>
          </p:cNvPr>
          <p:cNvGraphicFramePr>
            <a:graphicFrameLocks noGrp="1"/>
          </p:cNvGraphicFramePr>
          <p:nvPr>
            <p:ph idx="1"/>
            <p:extLst>
              <p:ext uri="{D42A27DB-BD31-4B8C-83A1-F6EECF244321}">
                <p14:modId xmlns:p14="http://schemas.microsoft.com/office/powerpoint/2010/main" val="352317264"/>
              </p:ext>
            </p:extLst>
          </p:nvPr>
        </p:nvGraphicFramePr>
        <p:xfrm>
          <a:off x="457200" y="1441143"/>
          <a:ext cx="8229600" cy="2560320"/>
        </p:xfrm>
        <a:graphic>
          <a:graphicData uri="http://schemas.openxmlformats.org/drawingml/2006/table">
            <a:tbl>
              <a:tblPr/>
              <a:tblGrid>
                <a:gridCol w="4114800">
                  <a:extLst>
                    <a:ext uri="{9D8B030D-6E8A-4147-A177-3AD203B41FA5}">
                      <a16:colId xmlns:a16="http://schemas.microsoft.com/office/drawing/2014/main" val="1130517728"/>
                    </a:ext>
                  </a:extLst>
                </a:gridCol>
                <a:gridCol w="4114800">
                  <a:extLst>
                    <a:ext uri="{9D8B030D-6E8A-4147-A177-3AD203B41FA5}">
                      <a16:colId xmlns:a16="http://schemas.microsoft.com/office/drawing/2014/main" val="4084412909"/>
                    </a:ext>
                  </a:extLst>
                </a:gridCol>
              </a:tblGrid>
              <a:tr h="0">
                <a:tc>
                  <a:txBody>
                    <a:bodyPr/>
                    <a:lstStyle/>
                    <a:p>
                      <a:r>
                        <a:rPr lang="en-US" b="1" dirty="0"/>
                        <a:t>Statistic</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b="1" dirty="0"/>
                        <a:t>Value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43093977"/>
                  </a:ext>
                </a:extLst>
              </a:tr>
              <a:tr h="0">
                <a:tc>
                  <a:txBody>
                    <a:bodyPr/>
                    <a:lstStyle/>
                    <a:p>
                      <a:r>
                        <a:rPr lang="en-US" b="1"/>
                        <a:t>Residual Std. Error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1.662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8306629"/>
                  </a:ext>
                </a:extLst>
              </a:tr>
              <a:tr h="0">
                <a:tc>
                  <a:txBody>
                    <a:bodyPr/>
                    <a:lstStyle/>
                    <a:p>
                      <a:r>
                        <a:rPr lang="en-US" b="1"/>
                        <a:t>Degrees of Freedom</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4852634"/>
                  </a:ext>
                </a:extLst>
              </a:tr>
              <a:tr h="0">
                <a:tc>
                  <a:txBody>
                    <a:bodyPr/>
                    <a:lstStyle/>
                    <a:p>
                      <a:r>
                        <a:rPr lang="en-US" b="1"/>
                        <a:t>Multiple R-squared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0.9026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4390231"/>
                  </a:ext>
                </a:extLst>
              </a:tr>
              <a:tr h="0">
                <a:tc>
                  <a:txBody>
                    <a:bodyPr/>
                    <a:lstStyle/>
                    <a:p>
                      <a:r>
                        <a:rPr lang="en-US" b="1"/>
                        <a:t>Adjusted R-squared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0.9011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1467423"/>
                  </a:ext>
                </a:extLst>
              </a:tr>
              <a:tr h="0">
                <a:tc>
                  <a:txBody>
                    <a:bodyPr/>
                    <a:lstStyle/>
                    <a:p>
                      <a:r>
                        <a:rPr lang="en-US" b="1"/>
                        <a:t>F-statistic</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605.4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1980713"/>
                  </a:ext>
                </a:extLst>
              </a:tr>
              <a:tr h="0">
                <a:tc>
                  <a:txBody>
                    <a:bodyPr/>
                    <a:lstStyle/>
                    <a:p>
                      <a:r>
                        <a:rPr lang="en-US" b="1" dirty="0"/>
                        <a:t>p-value</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&lt; 2.2e-16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8679290"/>
                  </a:ext>
                </a:extLst>
              </a:tr>
            </a:tbl>
          </a:graphicData>
        </a:graphic>
      </p:graphicFrame>
      <p:graphicFrame>
        <p:nvGraphicFramePr>
          <p:cNvPr id="10" name="Table 9">
            <a:extLst>
              <a:ext uri="{FF2B5EF4-FFF2-40B4-BE49-F238E27FC236}">
                <a16:creationId xmlns:a16="http://schemas.microsoft.com/office/drawing/2014/main" id="{1707884B-442E-02D2-77DC-ED2E3FBF59E2}"/>
              </a:ext>
            </a:extLst>
          </p:cNvPr>
          <p:cNvGraphicFramePr>
            <a:graphicFrameLocks noGrp="1"/>
          </p:cNvGraphicFramePr>
          <p:nvPr>
            <p:extLst>
              <p:ext uri="{D42A27DB-BD31-4B8C-83A1-F6EECF244321}">
                <p14:modId xmlns:p14="http://schemas.microsoft.com/office/powerpoint/2010/main" val="3898205499"/>
              </p:ext>
            </p:extLst>
          </p:nvPr>
        </p:nvGraphicFramePr>
        <p:xfrm>
          <a:off x="457200" y="4312272"/>
          <a:ext cx="8229600" cy="731520"/>
        </p:xfrm>
        <a:graphic>
          <a:graphicData uri="http://schemas.openxmlformats.org/drawingml/2006/table">
            <a:tbl>
              <a:tblPr/>
              <a:tblGrid>
                <a:gridCol w="1645920">
                  <a:extLst>
                    <a:ext uri="{9D8B030D-6E8A-4147-A177-3AD203B41FA5}">
                      <a16:colId xmlns:a16="http://schemas.microsoft.com/office/drawing/2014/main" val="3896693101"/>
                    </a:ext>
                  </a:extLst>
                </a:gridCol>
                <a:gridCol w="1645920">
                  <a:extLst>
                    <a:ext uri="{9D8B030D-6E8A-4147-A177-3AD203B41FA5}">
                      <a16:colId xmlns:a16="http://schemas.microsoft.com/office/drawing/2014/main" val="937343492"/>
                    </a:ext>
                  </a:extLst>
                </a:gridCol>
                <a:gridCol w="1645920">
                  <a:extLst>
                    <a:ext uri="{9D8B030D-6E8A-4147-A177-3AD203B41FA5}">
                      <a16:colId xmlns:a16="http://schemas.microsoft.com/office/drawing/2014/main" val="3937903217"/>
                    </a:ext>
                  </a:extLst>
                </a:gridCol>
                <a:gridCol w="1645920">
                  <a:extLst>
                    <a:ext uri="{9D8B030D-6E8A-4147-A177-3AD203B41FA5}">
                      <a16:colId xmlns:a16="http://schemas.microsoft.com/office/drawing/2014/main" val="2659423602"/>
                    </a:ext>
                  </a:extLst>
                </a:gridCol>
                <a:gridCol w="1645920">
                  <a:extLst>
                    <a:ext uri="{9D8B030D-6E8A-4147-A177-3AD203B41FA5}">
                      <a16:colId xmlns:a16="http://schemas.microsoft.com/office/drawing/2014/main" val="3472068491"/>
                    </a:ext>
                  </a:extLst>
                </a:gridCol>
              </a:tblGrid>
              <a:tr h="0">
                <a:tc>
                  <a:txBody>
                    <a:bodyPr/>
                    <a:lstStyle/>
                    <a:p>
                      <a:r>
                        <a:rPr lang="en-US" dirty="0"/>
                        <a:t>Min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1Q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Median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3Q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Max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4583606"/>
                  </a:ext>
                </a:extLst>
              </a:tr>
              <a:tr h="0">
                <a:tc>
                  <a:txBody>
                    <a:bodyPr/>
                    <a:lstStyle/>
                    <a:p>
                      <a:r>
                        <a:rPr lang="en-US" dirty="0"/>
                        <a:t>-7.3034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-0.8244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-0.0008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0.8976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3.7473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8264156"/>
                  </a:ext>
                </a:extLst>
              </a:tr>
            </a:tbl>
          </a:graphicData>
        </a:graphic>
      </p:graphicFrame>
      <p:sp>
        <p:nvSpPr>
          <p:cNvPr id="23" name="Slide Number Placeholder 22">
            <a:extLst>
              <a:ext uri="{FF2B5EF4-FFF2-40B4-BE49-F238E27FC236}">
                <a16:creationId xmlns:a16="http://schemas.microsoft.com/office/drawing/2014/main" id="{1EAFF71C-10CD-2E70-927F-D77ABFC26698}"/>
              </a:ext>
            </a:extLst>
          </p:cNvPr>
          <p:cNvSpPr>
            <a:spLocks noGrp="1"/>
          </p:cNvSpPr>
          <p:nvPr>
            <p:ph type="sldNum" sz="quarter" idx="12"/>
          </p:nvPr>
        </p:nvSpPr>
        <p:spPr/>
        <p:txBody>
          <a:bodyPr/>
          <a:lstStyle/>
          <a:p>
            <a:fld id="{C1FF6DA9-008F-8B48-92A6-B652298478BF}" type="slidenum">
              <a:rPr lang="en-US" smtClean="0"/>
              <a:t>12</a:t>
            </a:fld>
            <a:endParaRPr lang="en-US" dirty="0"/>
          </a:p>
        </p:txBody>
      </p:sp>
      <p:sp>
        <p:nvSpPr>
          <p:cNvPr id="6" name="TextBox 5">
            <a:extLst>
              <a:ext uri="{FF2B5EF4-FFF2-40B4-BE49-F238E27FC236}">
                <a16:creationId xmlns:a16="http://schemas.microsoft.com/office/drawing/2014/main" id="{C86087CC-6457-2A92-5FD4-8DAD13B92AE9}"/>
              </a:ext>
            </a:extLst>
          </p:cNvPr>
          <p:cNvSpPr txBox="1"/>
          <p:nvPr/>
        </p:nvSpPr>
        <p:spPr>
          <a:xfrm>
            <a:off x="1182254" y="5402732"/>
            <a:ext cx="7504546" cy="923330"/>
          </a:xfrm>
          <a:prstGeom prst="rect">
            <a:avLst/>
          </a:prstGeom>
          <a:noFill/>
        </p:spPr>
        <p:txBody>
          <a:bodyPr wrap="square">
            <a:spAutoFit/>
          </a:bodyPr>
          <a:lstStyle/>
          <a:p>
            <a:pPr algn="just"/>
            <a:r>
              <a:rPr lang="en-US" dirty="0"/>
              <a:t>The multiple linear regression model explains 90.26% of Sales variation, with TV having the strongest impact, Radio contributing moderately, and Newspaper having negligible influence.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53AAD-596C-30F2-39F8-9687DE36D20B}"/>
              </a:ext>
            </a:extLst>
          </p:cNvPr>
          <p:cNvSpPr>
            <a:spLocks noGrp="1"/>
          </p:cNvSpPr>
          <p:nvPr>
            <p:ph type="title"/>
          </p:nvPr>
        </p:nvSpPr>
        <p:spPr/>
        <p:txBody>
          <a:bodyPr/>
          <a:lstStyle/>
          <a:p>
            <a:r>
              <a:rPr lang="en-US" dirty="0"/>
              <a:t>Regression Coefficients</a:t>
            </a:r>
          </a:p>
        </p:txBody>
      </p:sp>
      <p:graphicFrame>
        <p:nvGraphicFramePr>
          <p:cNvPr id="21" name="Table 20">
            <a:extLst>
              <a:ext uri="{FF2B5EF4-FFF2-40B4-BE49-F238E27FC236}">
                <a16:creationId xmlns:a16="http://schemas.microsoft.com/office/drawing/2014/main" id="{3C9B75F8-7894-AA29-89BD-1C68D78905BA}"/>
              </a:ext>
            </a:extLst>
          </p:cNvPr>
          <p:cNvGraphicFramePr>
            <a:graphicFrameLocks noGrp="1"/>
          </p:cNvGraphicFramePr>
          <p:nvPr>
            <p:extLst>
              <p:ext uri="{D42A27DB-BD31-4B8C-83A1-F6EECF244321}">
                <p14:modId xmlns:p14="http://schemas.microsoft.com/office/powerpoint/2010/main" val="2524186163"/>
              </p:ext>
            </p:extLst>
          </p:nvPr>
        </p:nvGraphicFramePr>
        <p:xfrm>
          <a:off x="443237" y="1709224"/>
          <a:ext cx="8527314" cy="3238144"/>
        </p:xfrm>
        <a:graphic>
          <a:graphicData uri="http://schemas.openxmlformats.org/drawingml/2006/table">
            <a:tbl>
              <a:tblPr/>
              <a:tblGrid>
                <a:gridCol w="1605517">
                  <a:extLst>
                    <a:ext uri="{9D8B030D-6E8A-4147-A177-3AD203B41FA5}">
                      <a16:colId xmlns:a16="http://schemas.microsoft.com/office/drawing/2014/main" val="3066732525"/>
                    </a:ext>
                  </a:extLst>
                </a:gridCol>
                <a:gridCol w="1236921">
                  <a:extLst>
                    <a:ext uri="{9D8B030D-6E8A-4147-A177-3AD203B41FA5}">
                      <a16:colId xmlns:a16="http://schemas.microsoft.com/office/drawing/2014/main" val="2125813249"/>
                    </a:ext>
                  </a:extLst>
                </a:gridCol>
                <a:gridCol w="1421219">
                  <a:extLst>
                    <a:ext uri="{9D8B030D-6E8A-4147-A177-3AD203B41FA5}">
                      <a16:colId xmlns:a16="http://schemas.microsoft.com/office/drawing/2014/main" val="2287145106"/>
                    </a:ext>
                  </a:extLst>
                </a:gridCol>
                <a:gridCol w="1421219">
                  <a:extLst>
                    <a:ext uri="{9D8B030D-6E8A-4147-A177-3AD203B41FA5}">
                      <a16:colId xmlns:a16="http://schemas.microsoft.com/office/drawing/2014/main" val="3193516860"/>
                    </a:ext>
                  </a:extLst>
                </a:gridCol>
                <a:gridCol w="1421219">
                  <a:extLst>
                    <a:ext uri="{9D8B030D-6E8A-4147-A177-3AD203B41FA5}">
                      <a16:colId xmlns:a16="http://schemas.microsoft.com/office/drawing/2014/main" val="359713534"/>
                    </a:ext>
                  </a:extLst>
                </a:gridCol>
                <a:gridCol w="1421219">
                  <a:extLst>
                    <a:ext uri="{9D8B030D-6E8A-4147-A177-3AD203B41FA5}">
                      <a16:colId xmlns:a16="http://schemas.microsoft.com/office/drawing/2014/main" val="1789279609"/>
                    </a:ext>
                  </a:extLst>
                </a:gridCol>
              </a:tblGrid>
              <a:tr h="708344">
                <a:tc>
                  <a:txBody>
                    <a:bodyPr/>
                    <a:lstStyle/>
                    <a:p>
                      <a:r>
                        <a:rPr lang="en-US" b="1"/>
                        <a:t>Predictor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Estimate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Std. Error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t-value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p-value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Significance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0106972"/>
                  </a:ext>
                </a:extLst>
              </a:tr>
              <a:tr h="708344">
                <a:tc>
                  <a:txBody>
                    <a:bodyPr/>
                    <a:lstStyle/>
                    <a:p>
                      <a:r>
                        <a:rPr lang="en-US" b="1"/>
                        <a:t>Intercept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4.6251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0.3075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15.041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&lt; 2e-16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48633"/>
                  </a:ext>
                </a:extLst>
              </a:tr>
              <a:tr h="404768">
                <a:tc>
                  <a:txBody>
                    <a:bodyPr/>
                    <a:lstStyle/>
                    <a:p>
                      <a:r>
                        <a:rPr lang="en-US" b="1"/>
                        <a:t>TV</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0.0544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0.0014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39.592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&lt; 2e-16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218633"/>
                  </a:ext>
                </a:extLst>
              </a:tr>
              <a:tr h="404768">
                <a:tc>
                  <a:txBody>
                    <a:bodyPr/>
                    <a:lstStyle/>
                    <a:p>
                      <a:r>
                        <a:rPr lang="en-US" b="1"/>
                        <a:t>Radio</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0.1070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12.604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&lt; 2e-16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5458197"/>
                  </a:ext>
                </a:extLst>
              </a:tr>
              <a:tr h="1011920">
                <a:tc>
                  <a:txBody>
                    <a:bodyPr/>
                    <a:lstStyle/>
                    <a:p>
                      <a:r>
                        <a:rPr lang="en-US" b="1" dirty="0"/>
                        <a:t>Newspaper</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0.0003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0.0058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0.058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0.954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(Not Significant)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7798382"/>
                  </a:ext>
                </a:extLst>
              </a:tr>
            </a:tbl>
          </a:graphicData>
        </a:graphic>
      </p:graphicFrame>
      <p:sp>
        <p:nvSpPr>
          <p:cNvPr id="26" name="Slide Number Placeholder 25">
            <a:extLst>
              <a:ext uri="{FF2B5EF4-FFF2-40B4-BE49-F238E27FC236}">
                <a16:creationId xmlns:a16="http://schemas.microsoft.com/office/drawing/2014/main" id="{A0209F9F-490B-23FC-453C-FF7177D96B4C}"/>
              </a:ext>
            </a:extLst>
          </p:cNvPr>
          <p:cNvSpPr>
            <a:spLocks noGrp="1"/>
          </p:cNvSpPr>
          <p:nvPr>
            <p:ph type="sldNum" sz="quarter" idx="12"/>
          </p:nvPr>
        </p:nvSpPr>
        <p:spPr/>
        <p:txBody>
          <a:bodyPr/>
          <a:lstStyle/>
          <a:p>
            <a:fld id="{C1FF6DA9-008F-8B48-92A6-B652298478BF}" type="slidenum">
              <a:rPr lang="en-US" smtClean="0"/>
              <a:t>13</a:t>
            </a:fld>
            <a:endParaRPr lang="en-US" dirty="0"/>
          </a:p>
        </p:txBody>
      </p:sp>
      <p:sp>
        <p:nvSpPr>
          <p:cNvPr id="8" name="TextBox 7">
            <a:extLst>
              <a:ext uri="{FF2B5EF4-FFF2-40B4-BE49-F238E27FC236}">
                <a16:creationId xmlns:a16="http://schemas.microsoft.com/office/drawing/2014/main" id="{242041E8-818D-0CE1-CE6D-5DACF4E04A06}"/>
              </a:ext>
            </a:extLst>
          </p:cNvPr>
          <p:cNvSpPr txBox="1"/>
          <p:nvPr/>
        </p:nvSpPr>
        <p:spPr>
          <a:xfrm>
            <a:off x="1280935" y="5587559"/>
            <a:ext cx="7512084" cy="646331"/>
          </a:xfrm>
          <a:prstGeom prst="rect">
            <a:avLst/>
          </a:prstGeom>
          <a:noFill/>
        </p:spPr>
        <p:txBody>
          <a:bodyPr wrap="square">
            <a:spAutoFit/>
          </a:bodyPr>
          <a:lstStyle/>
          <a:p>
            <a:r>
              <a:rPr lang="en-US" b="1" dirty="0"/>
              <a:t>TV</a:t>
            </a:r>
            <a:r>
              <a:rPr lang="en-US" dirty="0"/>
              <a:t> is still the most important predictor, but </a:t>
            </a:r>
            <a:r>
              <a:rPr lang="en-US" b="1" dirty="0"/>
              <a:t>Radio</a:t>
            </a:r>
            <a:r>
              <a:rPr lang="en-US" dirty="0"/>
              <a:t> helps enhance the model.</a:t>
            </a:r>
          </a:p>
        </p:txBody>
      </p:sp>
    </p:spTree>
    <p:extLst>
      <p:ext uri="{BB962C8B-B14F-4D97-AF65-F5344CB8AC3E}">
        <p14:creationId xmlns:p14="http://schemas.microsoft.com/office/powerpoint/2010/main" val="276951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A69B8D4-8746-52FB-489F-04092F27EEFD}"/>
              </a:ext>
            </a:extLst>
          </p:cNvPr>
          <p:cNvGraphicFramePr>
            <a:graphicFrameLocks noGrp="1"/>
          </p:cNvGraphicFramePr>
          <p:nvPr>
            <p:ph idx="1"/>
            <p:extLst>
              <p:ext uri="{D42A27DB-BD31-4B8C-83A1-F6EECF244321}">
                <p14:modId xmlns:p14="http://schemas.microsoft.com/office/powerpoint/2010/main" val="821961259"/>
              </p:ext>
            </p:extLst>
          </p:nvPr>
        </p:nvGraphicFramePr>
        <p:xfrm>
          <a:off x="1265495" y="422157"/>
          <a:ext cx="7811385" cy="2377440"/>
        </p:xfrm>
        <a:graphic>
          <a:graphicData uri="http://schemas.openxmlformats.org/drawingml/2006/table">
            <a:tbl>
              <a:tblPr>
                <a:tableStyleId>{793D81CF-94F2-401A-BA57-92F5A7B2D0C5}</a:tableStyleId>
              </a:tblPr>
              <a:tblGrid>
                <a:gridCol w="2603795">
                  <a:extLst>
                    <a:ext uri="{9D8B030D-6E8A-4147-A177-3AD203B41FA5}">
                      <a16:colId xmlns:a16="http://schemas.microsoft.com/office/drawing/2014/main" val="3915575212"/>
                    </a:ext>
                  </a:extLst>
                </a:gridCol>
                <a:gridCol w="2603795">
                  <a:extLst>
                    <a:ext uri="{9D8B030D-6E8A-4147-A177-3AD203B41FA5}">
                      <a16:colId xmlns:a16="http://schemas.microsoft.com/office/drawing/2014/main" val="634325431"/>
                    </a:ext>
                  </a:extLst>
                </a:gridCol>
                <a:gridCol w="2603795">
                  <a:extLst>
                    <a:ext uri="{9D8B030D-6E8A-4147-A177-3AD203B41FA5}">
                      <a16:colId xmlns:a16="http://schemas.microsoft.com/office/drawing/2014/main" val="1184283430"/>
                    </a:ext>
                  </a:extLst>
                </a:gridCol>
              </a:tblGrid>
              <a:tr h="0">
                <a:tc>
                  <a:txBody>
                    <a:bodyPr/>
                    <a:lstStyle/>
                    <a:p>
                      <a:r>
                        <a:rPr lang="en-US" b="1" dirty="0"/>
                        <a:t>Predictor</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Full Model (All Predictors)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Reduced Model (Without Newspaper)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787879"/>
                  </a:ext>
                </a:extLst>
              </a:tr>
              <a:tr h="0">
                <a:tc>
                  <a:txBody>
                    <a:bodyPr/>
                    <a:lstStyle/>
                    <a:p>
                      <a:r>
                        <a:rPr lang="en-US" b="1"/>
                        <a:t>Intercept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4.6251 (SE = 0.3075)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4.6309 (SE = 0.2903)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0358036"/>
                  </a:ext>
                </a:extLst>
              </a:tr>
              <a:tr h="0">
                <a:tc>
                  <a:txBody>
                    <a:bodyPr/>
                    <a:lstStyle/>
                    <a:p>
                      <a:r>
                        <a:rPr lang="en-US" b="1" dirty="0"/>
                        <a:t>TV</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0.0544 (SE = 0.0014)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0.0544 (SE = 0.0014)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6549426"/>
                  </a:ext>
                </a:extLst>
              </a:tr>
              <a:tr h="0">
                <a:tc>
                  <a:txBody>
                    <a:bodyPr/>
                    <a:lstStyle/>
                    <a:p>
                      <a:r>
                        <a:rPr lang="en-US" b="1"/>
                        <a:t>Radio</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0.1070 (SE = 0.0085)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0.1072 (SE = 0.0079)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3551967"/>
                  </a:ext>
                </a:extLst>
              </a:tr>
              <a:tr h="0">
                <a:tc>
                  <a:txBody>
                    <a:bodyPr/>
                    <a:lstStyle/>
                    <a:p>
                      <a:r>
                        <a:rPr lang="en-US" b="1" dirty="0"/>
                        <a:t>Newspaper</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0.0003 (SE = 0.0058) (Not Significant)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Removed</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0007465"/>
                  </a:ext>
                </a:extLst>
              </a:tr>
            </a:tbl>
          </a:graphicData>
        </a:graphic>
      </p:graphicFrame>
      <p:sp>
        <p:nvSpPr>
          <p:cNvPr id="5" name="Rectangle 1">
            <a:extLst>
              <a:ext uri="{FF2B5EF4-FFF2-40B4-BE49-F238E27FC236}">
                <a16:creationId xmlns:a16="http://schemas.microsoft.com/office/drawing/2014/main" id="{5E7646FD-EC13-95D4-7FE0-FA6CF4CA5AAA}"/>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E60B8915-A806-634D-27F1-98B74C1CE0E3}"/>
              </a:ext>
            </a:extLst>
          </p:cNvPr>
          <p:cNvGraphicFramePr>
            <a:graphicFrameLocks noGrp="1"/>
          </p:cNvGraphicFramePr>
          <p:nvPr>
            <p:extLst>
              <p:ext uri="{D42A27DB-BD31-4B8C-83A1-F6EECF244321}">
                <p14:modId xmlns:p14="http://schemas.microsoft.com/office/powerpoint/2010/main" val="4284160780"/>
              </p:ext>
            </p:extLst>
          </p:nvPr>
        </p:nvGraphicFramePr>
        <p:xfrm>
          <a:off x="1265495" y="3211208"/>
          <a:ext cx="7811385" cy="3291840"/>
        </p:xfrm>
        <a:graphic>
          <a:graphicData uri="http://schemas.openxmlformats.org/drawingml/2006/table">
            <a:tbl>
              <a:tblPr>
                <a:tableStyleId>{793D81CF-94F2-401A-BA57-92F5A7B2D0C5}</a:tableStyleId>
              </a:tblPr>
              <a:tblGrid>
                <a:gridCol w="2603795">
                  <a:extLst>
                    <a:ext uri="{9D8B030D-6E8A-4147-A177-3AD203B41FA5}">
                      <a16:colId xmlns:a16="http://schemas.microsoft.com/office/drawing/2014/main" val="334428664"/>
                    </a:ext>
                  </a:extLst>
                </a:gridCol>
                <a:gridCol w="2603795">
                  <a:extLst>
                    <a:ext uri="{9D8B030D-6E8A-4147-A177-3AD203B41FA5}">
                      <a16:colId xmlns:a16="http://schemas.microsoft.com/office/drawing/2014/main" val="2812624109"/>
                    </a:ext>
                  </a:extLst>
                </a:gridCol>
                <a:gridCol w="2603795">
                  <a:extLst>
                    <a:ext uri="{9D8B030D-6E8A-4147-A177-3AD203B41FA5}">
                      <a16:colId xmlns:a16="http://schemas.microsoft.com/office/drawing/2014/main" val="4004811936"/>
                    </a:ext>
                  </a:extLst>
                </a:gridCol>
              </a:tblGrid>
              <a:tr h="0">
                <a:tc>
                  <a:txBody>
                    <a:bodyPr/>
                    <a:lstStyle/>
                    <a:p>
                      <a:r>
                        <a:rPr lang="en-US" b="1" dirty="0"/>
                        <a:t>Metric</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Full Model (TV, Radio, Newspaper)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Reduced Model (TV, Radio)</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0337340"/>
                  </a:ext>
                </a:extLst>
              </a:tr>
              <a:tr h="0">
                <a:tc>
                  <a:txBody>
                    <a:bodyPr/>
                    <a:lstStyle/>
                    <a:p>
                      <a:r>
                        <a:rPr lang="en-US" b="1"/>
                        <a:t>Residual Std. Error (RSE)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1.662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1.657</a:t>
                      </a:r>
                      <a:r>
                        <a:rPr lang="en-US"/>
                        <a:t> (Slightly better)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3856740"/>
                  </a:ext>
                </a:extLst>
              </a:tr>
              <a:tr h="0">
                <a:tc>
                  <a:txBody>
                    <a:bodyPr/>
                    <a:lstStyle/>
                    <a:p>
                      <a:r>
                        <a:rPr lang="en-US" b="1"/>
                        <a:t>Multiple R²</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0.9026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0.9026</a:t>
                      </a:r>
                      <a:r>
                        <a:rPr lang="en-US"/>
                        <a:t> (Same)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8264164"/>
                  </a:ext>
                </a:extLst>
              </a:tr>
              <a:tr h="0">
                <a:tc>
                  <a:txBody>
                    <a:bodyPr/>
                    <a:lstStyle/>
                    <a:p>
                      <a:r>
                        <a:rPr lang="en-US" b="1"/>
                        <a:t>Adjusted R²</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0.9011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t>0.9016</a:t>
                      </a:r>
                      <a:r>
                        <a:rPr lang="en-US"/>
                        <a:t> (Improved)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640591"/>
                  </a:ext>
                </a:extLst>
              </a:tr>
              <a:tr h="0">
                <a:tc>
                  <a:txBody>
                    <a:bodyPr/>
                    <a:lstStyle/>
                    <a:p>
                      <a:r>
                        <a:rPr lang="en-US" b="1"/>
                        <a:t>F-statistic</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605.4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912.7</a:t>
                      </a:r>
                      <a:r>
                        <a:rPr lang="en-US" dirty="0"/>
                        <a:t> (Higher, better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337772"/>
                  </a:ext>
                </a:extLst>
              </a:tr>
              <a:tr h="0">
                <a:tc>
                  <a:txBody>
                    <a:bodyPr/>
                    <a:lstStyle/>
                    <a:p>
                      <a:r>
                        <a:rPr lang="en-US" b="1" dirty="0"/>
                        <a:t>p-value (Overall Model)</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&lt; 2.2e-16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&lt; 2.2e-16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6061907"/>
                  </a:ext>
                </a:extLst>
              </a:tr>
            </a:tbl>
          </a:graphicData>
        </a:graphic>
      </p:graphicFrame>
      <p:sp>
        <p:nvSpPr>
          <p:cNvPr id="11" name="Slide Number Placeholder 10">
            <a:extLst>
              <a:ext uri="{FF2B5EF4-FFF2-40B4-BE49-F238E27FC236}">
                <a16:creationId xmlns:a16="http://schemas.microsoft.com/office/drawing/2014/main" id="{FD54BD74-8DE0-0C75-6B05-4B9793BA83E3}"/>
              </a:ext>
            </a:extLst>
          </p:cNvPr>
          <p:cNvSpPr>
            <a:spLocks noGrp="1"/>
          </p:cNvSpPr>
          <p:nvPr>
            <p:ph type="sldNum" sz="quarter" idx="12"/>
          </p:nvPr>
        </p:nvSpPr>
        <p:spPr/>
        <p:txBody>
          <a:bodyPr/>
          <a:lstStyle/>
          <a:p>
            <a:fld id="{C1FF6DA9-008F-8B48-92A6-B652298478BF}" type="slidenum">
              <a:rPr lang="en-US" smtClean="0"/>
              <a:t>14</a:t>
            </a:fld>
            <a:endParaRPr lang="en-US" dirty="0"/>
          </a:p>
        </p:txBody>
      </p:sp>
    </p:spTree>
    <p:extLst>
      <p:ext uri="{BB962C8B-B14F-4D97-AF65-F5344CB8AC3E}">
        <p14:creationId xmlns:p14="http://schemas.microsoft.com/office/powerpoint/2010/main" val="1704932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9550-9319-5CD1-9177-D02C79B68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581F3-55FD-8029-4C33-44CCF0F6AEB6}"/>
              </a:ext>
            </a:extLst>
          </p:cNvPr>
          <p:cNvSpPr>
            <a:spLocks noGrp="1"/>
          </p:cNvSpPr>
          <p:nvPr>
            <p:ph type="title"/>
          </p:nvPr>
        </p:nvSpPr>
        <p:spPr>
          <a:xfrm>
            <a:off x="1679387" y="517784"/>
            <a:ext cx="6589199" cy="726225"/>
          </a:xfrm>
        </p:spPr>
        <p:txBody>
          <a:bodyPr/>
          <a:lstStyle/>
          <a:p>
            <a:r>
              <a:rPr lang="en-US" dirty="0"/>
              <a:t>Visualization</a:t>
            </a:r>
            <a:endParaRPr dirty="0"/>
          </a:p>
        </p:txBody>
      </p:sp>
      <p:pic>
        <p:nvPicPr>
          <p:cNvPr id="10" name="Picture 9">
            <a:extLst>
              <a:ext uri="{FF2B5EF4-FFF2-40B4-BE49-F238E27FC236}">
                <a16:creationId xmlns:a16="http://schemas.microsoft.com/office/drawing/2014/main" id="{37E1F9BC-35AA-2305-3363-1DE3BCBD1575}"/>
              </a:ext>
            </a:extLst>
          </p:cNvPr>
          <p:cNvPicPr>
            <a:picLocks noChangeAspect="1"/>
          </p:cNvPicPr>
          <p:nvPr/>
        </p:nvPicPr>
        <p:blipFill>
          <a:blip r:embed="rId2"/>
          <a:stretch>
            <a:fillRect/>
          </a:stretch>
        </p:blipFill>
        <p:spPr>
          <a:xfrm>
            <a:off x="190330" y="1956391"/>
            <a:ext cx="8953670" cy="4182440"/>
          </a:xfrm>
          <a:prstGeom prst="rect">
            <a:avLst/>
          </a:prstGeom>
        </p:spPr>
      </p:pic>
      <p:sp>
        <p:nvSpPr>
          <p:cNvPr id="13" name="Slide Number Placeholder 12">
            <a:extLst>
              <a:ext uri="{FF2B5EF4-FFF2-40B4-BE49-F238E27FC236}">
                <a16:creationId xmlns:a16="http://schemas.microsoft.com/office/drawing/2014/main" id="{6669DB3A-F861-F5DA-A3C6-25B02D4FE22E}"/>
              </a:ext>
            </a:extLst>
          </p:cNvPr>
          <p:cNvSpPr>
            <a:spLocks noGrp="1"/>
          </p:cNvSpPr>
          <p:nvPr>
            <p:ph type="sldNum" sz="quarter" idx="12"/>
          </p:nvPr>
        </p:nvSpPr>
        <p:spPr/>
        <p:txBody>
          <a:bodyPr/>
          <a:lstStyle/>
          <a:p>
            <a:fld id="{C1FF6DA9-008F-8B48-92A6-B652298478BF}" type="slidenum">
              <a:rPr lang="en-US" smtClean="0"/>
              <a:t>15</a:t>
            </a:fld>
            <a:endParaRPr lang="en-US" dirty="0"/>
          </a:p>
        </p:txBody>
      </p:sp>
    </p:spTree>
    <p:extLst>
      <p:ext uri="{BB962C8B-B14F-4D97-AF65-F5344CB8AC3E}">
        <p14:creationId xmlns:p14="http://schemas.microsoft.com/office/powerpoint/2010/main" val="2758770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F5BA6-A2FE-DE96-A7CA-6861FB6EC2EE}"/>
              </a:ext>
            </a:extLst>
          </p:cNvPr>
          <p:cNvSpPr>
            <a:spLocks noGrp="1"/>
          </p:cNvSpPr>
          <p:nvPr>
            <p:ph type="title"/>
          </p:nvPr>
        </p:nvSpPr>
        <p:spPr/>
        <p:txBody>
          <a:bodyPr/>
          <a:lstStyle/>
          <a:p>
            <a:r>
              <a:rPr lang="en-US" dirty="0"/>
              <a:t>Model selection criteria</a:t>
            </a:r>
          </a:p>
        </p:txBody>
      </p:sp>
      <p:graphicFrame>
        <p:nvGraphicFramePr>
          <p:cNvPr id="4" name="Content Placeholder 3">
            <a:extLst>
              <a:ext uri="{FF2B5EF4-FFF2-40B4-BE49-F238E27FC236}">
                <a16:creationId xmlns:a16="http://schemas.microsoft.com/office/drawing/2014/main" id="{1922C993-32FC-D570-3492-D3A05B71E14D}"/>
              </a:ext>
            </a:extLst>
          </p:cNvPr>
          <p:cNvGraphicFramePr>
            <a:graphicFrameLocks noGrp="1"/>
          </p:cNvGraphicFramePr>
          <p:nvPr>
            <p:ph idx="1"/>
            <p:extLst>
              <p:ext uri="{D42A27DB-BD31-4B8C-83A1-F6EECF244321}">
                <p14:modId xmlns:p14="http://schemas.microsoft.com/office/powerpoint/2010/main" val="3754900508"/>
              </p:ext>
            </p:extLst>
          </p:nvPr>
        </p:nvGraphicFramePr>
        <p:xfrm>
          <a:off x="1391091" y="1905000"/>
          <a:ext cx="7028124" cy="2629581"/>
        </p:xfrm>
        <a:graphic>
          <a:graphicData uri="http://schemas.openxmlformats.org/drawingml/2006/table">
            <a:tbl>
              <a:tblPr/>
              <a:tblGrid>
                <a:gridCol w="1757031">
                  <a:extLst>
                    <a:ext uri="{9D8B030D-6E8A-4147-A177-3AD203B41FA5}">
                      <a16:colId xmlns:a16="http://schemas.microsoft.com/office/drawing/2014/main" val="2777102942"/>
                    </a:ext>
                  </a:extLst>
                </a:gridCol>
                <a:gridCol w="1757031">
                  <a:extLst>
                    <a:ext uri="{9D8B030D-6E8A-4147-A177-3AD203B41FA5}">
                      <a16:colId xmlns:a16="http://schemas.microsoft.com/office/drawing/2014/main" val="2503443265"/>
                    </a:ext>
                  </a:extLst>
                </a:gridCol>
                <a:gridCol w="1757031">
                  <a:extLst>
                    <a:ext uri="{9D8B030D-6E8A-4147-A177-3AD203B41FA5}">
                      <a16:colId xmlns:a16="http://schemas.microsoft.com/office/drawing/2014/main" val="242866516"/>
                    </a:ext>
                  </a:extLst>
                </a:gridCol>
                <a:gridCol w="1757031">
                  <a:extLst>
                    <a:ext uri="{9D8B030D-6E8A-4147-A177-3AD203B41FA5}">
                      <a16:colId xmlns:a16="http://schemas.microsoft.com/office/drawing/2014/main" val="1579635329"/>
                    </a:ext>
                  </a:extLst>
                </a:gridCol>
              </a:tblGrid>
              <a:tr h="681743">
                <a:tc>
                  <a:txBody>
                    <a:bodyPr/>
                    <a:lstStyle/>
                    <a:p>
                      <a:r>
                        <a:rPr lang="en-US"/>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Degrees of Freedom (df)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BIC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60478"/>
                  </a:ext>
                </a:extLst>
              </a:tr>
              <a:tr h="973919">
                <a:tc>
                  <a:txBody>
                    <a:bodyPr/>
                    <a:lstStyle/>
                    <a:p>
                      <a:r>
                        <a:rPr lang="en-US" b="1"/>
                        <a:t>Full Model (TV + Radio + Newspaper)</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774.67</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787.87</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190981"/>
                  </a:ext>
                </a:extLst>
              </a:tr>
              <a:tr h="973919">
                <a:tc>
                  <a:txBody>
                    <a:bodyPr/>
                    <a:lstStyle/>
                    <a:p>
                      <a:r>
                        <a:rPr lang="en-US" b="1"/>
                        <a:t>Reduced Model (TV + Radio)</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774.67</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787.87</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8329231"/>
                  </a:ext>
                </a:extLst>
              </a:tr>
            </a:tbl>
          </a:graphicData>
        </a:graphic>
      </p:graphicFrame>
      <p:sp>
        <p:nvSpPr>
          <p:cNvPr id="9" name="Slide Number Placeholder 8">
            <a:extLst>
              <a:ext uri="{FF2B5EF4-FFF2-40B4-BE49-F238E27FC236}">
                <a16:creationId xmlns:a16="http://schemas.microsoft.com/office/drawing/2014/main" id="{9C965388-C92C-FB74-3C3A-4601140C822F}"/>
              </a:ext>
            </a:extLst>
          </p:cNvPr>
          <p:cNvSpPr>
            <a:spLocks noGrp="1"/>
          </p:cNvSpPr>
          <p:nvPr>
            <p:ph type="sldNum" sz="quarter" idx="12"/>
          </p:nvPr>
        </p:nvSpPr>
        <p:spPr/>
        <p:txBody>
          <a:bodyPr/>
          <a:lstStyle/>
          <a:p>
            <a:fld id="{C1FF6DA9-008F-8B48-92A6-B652298478BF}" type="slidenum">
              <a:rPr lang="en-US" smtClean="0"/>
              <a:t>16</a:t>
            </a:fld>
            <a:endParaRPr lang="en-US" dirty="0"/>
          </a:p>
        </p:txBody>
      </p:sp>
    </p:spTree>
    <p:extLst>
      <p:ext uri="{BB962C8B-B14F-4D97-AF65-F5344CB8AC3E}">
        <p14:creationId xmlns:p14="http://schemas.microsoft.com/office/powerpoint/2010/main" val="3362185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317CD-07E6-6E41-FA8E-D2FF5CC2D2A7}"/>
              </a:ext>
            </a:extLst>
          </p:cNvPr>
          <p:cNvSpPr>
            <a:spLocks noGrp="1"/>
          </p:cNvSpPr>
          <p:nvPr>
            <p:ph type="title"/>
          </p:nvPr>
        </p:nvSpPr>
        <p:spPr/>
        <p:txBody>
          <a:bodyPr/>
          <a:lstStyle/>
          <a:p>
            <a:r>
              <a:rPr lang="en-US" dirty="0"/>
              <a:t>Residuals vs Fitted Values </a:t>
            </a:r>
          </a:p>
        </p:txBody>
      </p:sp>
      <p:sp>
        <p:nvSpPr>
          <p:cNvPr id="4" name="Slide Number Placeholder 3">
            <a:extLst>
              <a:ext uri="{FF2B5EF4-FFF2-40B4-BE49-F238E27FC236}">
                <a16:creationId xmlns:a16="http://schemas.microsoft.com/office/drawing/2014/main" id="{DB2ECD31-FAE4-BD02-E332-328867AE2CCF}"/>
              </a:ext>
            </a:extLst>
          </p:cNvPr>
          <p:cNvSpPr>
            <a:spLocks noGrp="1"/>
          </p:cNvSpPr>
          <p:nvPr>
            <p:ph type="sldNum" sz="quarter" idx="12"/>
          </p:nvPr>
        </p:nvSpPr>
        <p:spPr/>
        <p:txBody>
          <a:bodyPr/>
          <a:lstStyle/>
          <a:p>
            <a:fld id="{C1FF6DA9-008F-8B48-92A6-B652298478BF}" type="slidenum">
              <a:rPr lang="en-US" smtClean="0"/>
              <a:t>17</a:t>
            </a:fld>
            <a:endParaRPr lang="en-US" dirty="0"/>
          </a:p>
        </p:txBody>
      </p:sp>
      <p:sp>
        <p:nvSpPr>
          <p:cNvPr id="5" name="TextBox 4">
            <a:extLst>
              <a:ext uri="{FF2B5EF4-FFF2-40B4-BE49-F238E27FC236}">
                <a16:creationId xmlns:a16="http://schemas.microsoft.com/office/drawing/2014/main" id="{8543AFCA-D416-4224-2089-C50534AD3286}"/>
              </a:ext>
            </a:extLst>
          </p:cNvPr>
          <p:cNvSpPr txBox="1"/>
          <p:nvPr/>
        </p:nvSpPr>
        <p:spPr>
          <a:xfrm>
            <a:off x="983673" y="5662489"/>
            <a:ext cx="7903392" cy="923330"/>
          </a:xfrm>
          <a:prstGeom prst="rect">
            <a:avLst/>
          </a:prstGeom>
          <a:noFill/>
        </p:spPr>
        <p:txBody>
          <a:bodyPr wrap="square">
            <a:spAutoFit/>
          </a:bodyPr>
          <a:lstStyle/>
          <a:p>
            <a:r>
              <a:rPr lang="en-US" dirty="0"/>
              <a:t>The model explains 90.3% of sales variation with good fit (RMSE: 1.645), but residuals are slightly non-normal, indicating minor model inadequacy.</a:t>
            </a:r>
          </a:p>
        </p:txBody>
      </p:sp>
      <p:pic>
        <p:nvPicPr>
          <p:cNvPr id="10" name="Content Placeholder 9">
            <a:extLst>
              <a:ext uri="{FF2B5EF4-FFF2-40B4-BE49-F238E27FC236}">
                <a16:creationId xmlns:a16="http://schemas.microsoft.com/office/drawing/2014/main" id="{745DEB5A-44A3-CE76-0103-612556BE47B6}"/>
              </a:ext>
            </a:extLst>
          </p:cNvPr>
          <p:cNvPicPr>
            <a:picLocks noGrp="1" noChangeAspect="1"/>
          </p:cNvPicPr>
          <p:nvPr>
            <p:ph idx="1"/>
          </p:nvPr>
        </p:nvPicPr>
        <p:blipFill>
          <a:blip r:embed="rId2"/>
          <a:stretch>
            <a:fillRect/>
          </a:stretch>
        </p:blipFill>
        <p:spPr>
          <a:xfrm>
            <a:off x="1160005" y="1516316"/>
            <a:ext cx="7550727" cy="3782766"/>
          </a:xfrm>
          <a:prstGeom prst="rect">
            <a:avLst/>
          </a:prstGeom>
        </p:spPr>
      </p:pic>
    </p:spTree>
    <p:extLst>
      <p:ext uri="{BB962C8B-B14F-4D97-AF65-F5344CB8AC3E}">
        <p14:creationId xmlns:p14="http://schemas.microsoft.com/office/powerpoint/2010/main" val="3658456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20B4C-099F-2E6A-DEF7-4AE20A78CE56}"/>
              </a:ext>
            </a:extLst>
          </p:cNvPr>
          <p:cNvSpPr>
            <a:spLocks noGrp="1"/>
          </p:cNvSpPr>
          <p:nvPr>
            <p:ph type="title"/>
          </p:nvPr>
        </p:nvSpPr>
        <p:spPr/>
        <p:txBody>
          <a:bodyPr/>
          <a:lstStyle/>
          <a:p>
            <a:r>
              <a:rPr lang="en-US" dirty="0"/>
              <a:t>Comparison table</a:t>
            </a:r>
          </a:p>
        </p:txBody>
      </p:sp>
      <p:sp>
        <p:nvSpPr>
          <p:cNvPr id="4" name="Slide Number Placeholder 3">
            <a:extLst>
              <a:ext uri="{FF2B5EF4-FFF2-40B4-BE49-F238E27FC236}">
                <a16:creationId xmlns:a16="http://schemas.microsoft.com/office/drawing/2014/main" id="{E595AD52-1F06-C75A-6612-BA3C87CF082B}"/>
              </a:ext>
            </a:extLst>
          </p:cNvPr>
          <p:cNvSpPr>
            <a:spLocks noGrp="1"/>
          </p:cNvSpPr>
          <p:nvPr>
            <p:ph type="sldNum" sz="quarter" idx="12"/>
          </p:nvPr>
        </p:nvSpPr>
        <p:spPr/>
        <p:txBody>
          <a:bodyPr/>
          <a:lstStyle/>
          <a:p>
            <a:fld id="{C1FF6DA9-008F-8B48-92A6-B652298478BF}" type="slidenum">
              <a:rPr lang="en-US" smtClean="0"/>
              <a:t>18</a:t>
            </a:fld>
            <a:endParaRPr lang="en-US" dirty="0"/>
          </a:p>
        </p:txBody>
      </p:sp>
      <p:graphicFrame>
        <p:nvGraphicFramePr>
          <p:cNvPr id="5" name="Content Placeholder 25">
            <a:extLst>
              <a:ext uri="{FF2B5EF4-FFF2-40B4-BE49-F238E27FC236}">
                <a16:creationId xmlns:a16="http://schemas.microsoft.com/office/drawing/2014/main" id="{AA5298B7-E0D3-7913-1EE1-3AC5A5C5B9C6}"/>
              </a:ext>
            </a:extLst>
          </p:cNvPr>
          <p:cNvGraphicFramePr>
            <a:graphicFrameLocks/>
          </p:cNvGraphicFramePr>
          <p:nvPr>
            <p:extLst>
              <p:ext uri="{D42A27DB-BD31-4B8C-83A1-F6EECF244321}">
                <p14:modId xmlns:p14="http://schemas.microsoft.com/office/powerpoint/2010/main" val="517847500"/>
              </p:ext>
            </p:extLst>
          </p:nvPr>
        </p:nvGraphicFramePr>
        <p:xfrm>
          <a:off x="958713" y="1769724"/>
          <a:ext cx="7745100" cy="3993112"/>
        </p:xfrm>
        <a:graphic>
          <a:graphicData uri="http://schemas.openxmlformats.org/drawingml/2006/table">
            <a:tbl>
              <a:tblPr/>
              <a:tblGrid>
                <a:gridCol w="1936275">
                  <a:extLst>
                    <a:ext uri="{9D8B030D-6E8A-4147-A177-3AD203B41FA5}">
                      <a16:colId xmlns:a16="http://schemas.microsoft.com/office/drawing/2014/main" val="610781672"/>
                    </a:ext>
                  </a:extLst>
                </a:gridCol>
                <a:gridCol w="1936275">
                  <a:extLst>
                    <a:ext uri="{9D8B030D-6E8A-4147-A177-3AD203B41FA5}">
                      <a16:colId xmlns:a16="http://schemas.microsoft.com/office/drawing/2014/main" val="2878951858"/>
                    </a:ext>
                  </a:extLst>
                </a:gridCol>
                <a:gridCol w="1936275">
                  <a:extLst>
                    <a:ext uri="{9D8B030D-6E8A-4147-A177-3AD203B41FA5}">
                      <a16:colId xmlns:a16="http://schemas.microsoft.com/office/drawing/2014/main" val="1509907123"/>
                    </a:ext>
                  </a:extLst>
                </a:gridCol>
                <a:gridCol w="1936275">
                  <a:extLst>
                    <a:ext uri="{9D8B030D-6E8A-4147-A177-3AD203B41FA5}">
                      <a16:colId xmlns:a16="http://schemas.microsoft.com/office/drawing/2014/main" val="1560533137"/>
                    </a:ext>
                  </a:extLst>
                </a:gridCol>
              </a:tblGrid>
              <a:tr h="532148">
                <a:tc>
                  <a:txBody>
                    <a:bodyPr/>
                    <a:lstStyle/>
                    <a:p>
                      <a:r>
                        <a:rPr lang="en-US" sz="1400"/>
                        <a:t>Model</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R²</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Adjusted R²</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Residual Standard Error (RSE)</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7495044"/>
                  </a:ext>
                </a:extLst>
              </a:tr>
              <a:tr h="372504">
                <a:tc>
                  <a:txBody>
                    <a:bodyPr/>
                    <a:lstStyle/>
                    <a:p>
                      <a:r>
                        <a:rPr lang="en-US" sz="1400" b="1"/>
                        <a:t>Log Model (lm_log)</a:t>
                      </a:r>
                      <a:endParaRPr lang="en-US" sz="1400"/>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0.7934</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0.7903</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0.1937</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2460114"/>
                  </a:ext>
                </a:extLst>
              </a:tr>
              <a:tr h="372504">
                <a:tc>
                  <a:txBody>
                    <a:bodyPr/>
                    <a:lstStyle/>
                    <a:p>
                      <a:r>
                        <a:rPr lang="en-US" sz="1400" b="1"/>
                        <a:t>Sqrt Model (lm_sqrt)</a:t>
                      </a:r>
                      <a:endParaRPr lang="en-US" sz="1400"/>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0.874</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0.872</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0.2583</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6137561"/>
                  </a:ext>
                </a:extLst>
              </a:tr>
              <a:tr h="372504">
                <a:tc>
                  <a:txBody>
                    <a:bodyPr/>
                    <a:lstStyle/>
                    <a:p>
                      <a:r>
                        <a:rPr lang="en-US" sz="1400" b="1"/>
                        <a:t>TV Model (lm_tv)</a:t>
                      </a:r>
                      <a:endParaRPr lang="en-US" sz="1400"/>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0.8122</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0.8112</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2.296</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6345539"/>
                  </a:ext>
                </a:extLst>
              </a:tr>
              <a:tr h="372504">
                <a:tc>
                  <a:txBody>
                    <a:bodyPr/>
                    <a:lstStyle/>
                    <a:p>
                      <a:r>
                        <a:rPr lang="en-US" sz="1400" b="1"/>
                        <a:t>Radio Model (lm_radio)</a:t>
                      </a:r>
                      <a:endParaRPr lang="en-US" sz="1400"/>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0.1222</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0.1178</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4.963</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053186"/>
                  </a:ext>
                </a:extLst>
              </a:tr>
              <a:tr h="691792">
                <a:tc>
                  <a:txBody>
                    <a:bodyPr/>
                    <a:lstStyle/>
                    <a:p>
                      <a:r>
                        <a:rPr lang="en-US" sz="1400" b="1"/>
                        <a:t>Newspaper Model (lm_newspaper)</a:t>
                      </a:r>
                      <a:endParaRPr lang="en-US" sz="1400"/>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0.02495</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0.02003</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5.231</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3542581"/>
                  </a:ext>
                </a:extLst>
              </a:tr>
              <a:tr h="691792">
                <a:tc>
                  <a:txBody>
                    <a:bodyPr/>
                    <a:lstStyle/>
                    <a:p>
                      <a:r>
                        <a:rPr lang="en-US" sz="1400" b="1"/>
                        <a:t>Reduced Model (model_reduced)</a:t>
                      </a:r>
                      <a:endParaRPr lang="en-US" sz="1400"/>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0.9026</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0.9016</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1.657</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896688"/>
                  </a:ext>
                </a:extLst>
              </a:tr>
              <a:tr h="372504">
                <a:tc>
                  <a:txBody>
                    <a:bodyPr/>
                    <a:lstStyle/>
                    <a:p>
                      <a:r>
                        <a:rPr lang="en-US" sz="1400" b="1" dirty="0"/>
                        <a:t>Full Model (</a:t>
                      </a:r>
                      <a:r>
                        <a:rPr lang="en-US" sz="1400" b="1" dirty="0" err="1"/>
                        <a:t>model_full</a:t>
                      </a:r>
                      <a:r>
                        <a:rPr lang="en-US" sz="1400" b="1" dirty="0"/>
                        <a:t>)</a:t>
                      </a:r>
                      <a:endParaRPr lang="en-US" sz="1400" dirty="0"/>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0.9026</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0.9016</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t>1.657</a:t>
                      </a:r>
                    </a:p>
                  </a:txBody>
                  <a:tcPr marL="53215" marR="53215" marT="26607" marB="266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5438351"/>
                  </a:ext>
                </a:extLst>
              </a:tr>
            </a:tbl>
          </a:graphicData>
        </a:graphic>
      </p:graphicFrame>
    </p:spTree>
    <p:extLst>
      <p:ext uri="{BB962C8B-B14F-4D97-AF65-F5344CB8AC3E}">
        <p14:creationId xmlns:p14="http://schemas.microsoft.com/office/powerpoint/2010/main" val="8840267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F3DED-CC4A-EB30-7F9E-0B1D99A52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F50D6-66A6-D779-A07F-46AAFB73F858}"/>
              </a:ext>
            </a:extLst>
          </p:cNvPr>
          <p:cNvSpPr>
            <a:spLocks noGrp="1"/>
          </p:cNvSpPr>
          <p:nvPr>
            <p:ph type="title"/>
          </p:nvPr>
        </p:nvSpPr>
        <p:spPr/>
        <p:txBody>
          <a:bodyPr/>
          <a:lstStyle/>
          <a:p>
            <a:r>
              <a:rPr lang="en-US" dirty="0"/>
              <a:t>Model selection criteria</a:t>
            </a:r>
          </a:p>
        </p:txBody>
      </p:sp>
      <p:sp>
        <p:nvSpPr>
          <p:cNvPr id="7" name="TextBox 6">
            <a:extLst>
              <a:ext uri="{FF2B5EF4-FFF2-40B4-BE49-F238E27FC236}">
                <a16:creationId xmlns:a16="http://schemas.microsoft.com/office/drawing/2014/main" id="{67CCE4D1-58F5-DB45-4DEA-C861EF588BDB}"/>
              </a:ext>
            </a:extLst>
          </p:cNvPr>
          <p:cNvSpPr txBox="1"/>
          <p:nvPr/>
        </p:nvSpPr>
        <p:spPr>
          <a:xfrm>
            <a:off x="1096206" y="5671558"/>
            <a:ext cx="7258493" cy="646331"/>
          </a:xfrm>
          <a:prstGeom prst="rect">
            <a:avLst/>
          </a:prstGeom>
          <a:noFill/>
        </p:spPr>
        <p:txBody>
          <a:bodyPr wrap="square">
            <a:spAutoFit/>
          </a:bodyPr>
          <a:lstStyle/>
          <a:p>
            <a:pPr algn="just"/>
            <a:r>
              <a:rPr lang="en-US" dirty="0"/>
              <a:t>The log-transformed model (</a:t>
            </a:r>
            <a:r>
              <a:rPr lang="en-US" dirty="0" err="1"/>
              <a:t>lm_log</a:t>
            </a:r>
            <a:r>
              <a:rPr lang="en-US" dirty="0"/>
              <a:t>) is the best choice overall, as it has the lowest AIC and BIC</a:t>
            </a:r>
          </a:p>
        </p:txBody>
      </p:sp>
      <p:sp>
        <p:nvSpPr>
          <p:cNvPr id="9" name="Slide Number Placeholder 8">
            <a:extLst>
              <a:ext uri="{FF2B5EF4-FFF2-40B4-BE49-F238E27FC236}">
                <a16:creationId xmlns:a16="http://schemas.microsoft.com/office/drawing/2014/main" id="{98EDC958-D0C3-9085-1B03-8E0679238644}"/>
              </a:ext>
            </a:extLst>
          </p:cNvPr>
          <p:cNvSpPr>
            <a:spLocks noGrp="1"/>
          </p:cNvSpPr>
          <p:nvPr>
            <p:ph type="sldNum" sz="quarter" idx="12"/>
          </p:nvPr>
        </p:nvSpPr>
        <p:spPr/>
        <p:txBody>
          <a:bodyPr/>
          <a:lstStyle/>
          <a:p>
            <a:fld id="{C1FF6DA9-008F-8B48-92A6-B652298478BF}" type="slidenum">
              <a:rPr lang="en-US" smtClean="0"/>
              <a:t>19</a:t>
            </a:fld>
            <a:endParaRPr lang="en-US" dirty="0"/>
          </a:p>
        </p:txBody>
      </p:sp>
      <p:graphicFrame>
        <p:nvGraphicFramePr>
          <p:cNvPr id="13" name="Content Placeholder 12">
            <a:extLst>
              <a:ext uri="{FF2B5EF4-FFF2-40B4-BE49-F238E27FC236}">
                <a16:creationId xmlns:a16="http://schemas.microsoft.com/office/drawing/2014/main" id="{A395790B-6C6A-6A1A-D627-59A448628F0B}"/>
              </a:ext>
            </a:extLst>
          </p:cNvPr>
          <p:cNvGraphicFramePr>
            <a:graphicFrameLocks noGrp="1"/>
          </p:cNvGraphicFramePr>
          <p:nvPr>
            <p:ph idx="1"/>
            <p:extLst>
              <p:ext uri="{D42A27DB-BD31-4B8C-83A1-F6EECF244321}">
                <p14:modId xmlns:p14="http://schemas.microsoft.com/office/powerpoint/2010/main" val="3509993340"/>
              </p:ext>
            </p:extLst>
          </p:nvPr>
        </p:nvGraphicFramePr>
        <p:xfrm>
          <a:off x="1096206" y="1992111"/>
          <a:ext cx="7844594" cy="1828800"/>
        </p:xfrm>
        <a:graphic>
          <a:graphicData uri="http://schemas.openxmlformats.org/drawingml/2006/table">
            <a:tbl>
              <a:tblPr/>
              <a:tblGrid>
                <a:gridCol w="2432085">
                  <a:extLst>
                    <a:ext uri="{9D8B030D-6E8A-4147-A177-3AD203B41FA5}">
                      <a16:colId xmlns:a16="http://schemas.microsoft.com/office/drawing/2014/main" val="3339406455"/>
                    </a:ext>
                  </a:extLst>
                </a:gridCol>
                <a:gridCol w="1490213">
                  <a:extLst>
                    <a:ext uri="{9D8B030D-6E8A-4147-A177-3AD203B41FA5}">
                      <a16:colId xmlns:a16="http://schemas.microsoft.com/office/drawing/2014/main" val="1024599740"/>
                    </a:ext>
                  </a:extLst>
                </a:gridCol>
                <a:gridCol w="2209914">
                  <a:extLst>
                    <a:ext uri="{9D8B030D-6E8A-4147-A177-3AD203B41FA5}">
                      <a16:colId xmlns:a16="http://schemas.microsoft.com/office/drawing/2014/main" val="1376184281"/>
                    </a:ext>
                  </a:extLst>
                </a:gridCol>
                <a:gridCol w="1712382">
                  <a:extLst>
                    <a:ext uri="{9D8B030D-6E8A-4147-A177-3AD203B41FA5}">
                      <a16:colId xmlns:a16="http://schemas.microsoft.com/office/drawing/2014/main" val="372579717"/>
                    </a:ext>
                  </a:extLst>
                </a:gridCol>
              </a:tblGrid>
              <a:tr h="0">
                <a:tc>
                  <a:txBody>
                    <a:bodyPr/>
                    <a:lstStyle/>
                    <a:p>
                      <a:r>
                        <a:rPr lang="en-US"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BIC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2696222"/>
                  </a:ext>
                </a:extLst>
              </a:tr>
              <a:tr h="0">
                <a:tc>
                  <a:txBody>
                    <a:bodyPr/>
                    <a:lstStyle/>
                    <a:p>
                      <a:r>
                        <a:rPr lang="en-US" b="1"/>
                        <a:t>model_full</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774.67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787.87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1618673"/>
                  </a:ext>
                </a:extLst>
              </a:tr>
              <a:tr h="0">
                <a:tc>
                  <a:txBody>
                    <a:bodyPr/>
                    <a:lstStyle/>
                    <a:p>
                      <a:r>
                        <a:rPr lang="en-US" b="1"/>
                        <a:t>model_reduced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774.67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787.87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7661004"/>
                  </a:ext>
                </a:extLst>
              </a:tr>
              <a:tr h="0">
                <a:tc>
                  <a:txBody>
                    <a:bodyPr/>
                    <a:lstStyle/>
                    <a:p>
                      <a:r>
                        <a:rPr lang="en-US" b="1"/>
                        <a:t>lm_log</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-83.10</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-66.61</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8881727"/>
                  </a:ext>
                </a:extLst>
              </a:tr>
              <a:tr h="0">
                <a:tc>
                  <a:txBody>
                    <a:bodyPr/>
                    <a:lstStyle/>
                    <a:p>
                      <a:r>
                        <a:rPr lang="en-US" b="1"/>
                        <a:t>lm_sqrt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32.15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48.64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7465740"/>
                  </a:ext>
                </a:extLst>
              </a:tr>
            </a:tbl>
          </a:graphicData>
        </a:graphic>
      </p:graphicFrame>
      <p:sp>
        <p:nvSpPr>
          <p:cNvPr id="4" name="TextBox 3">
            <a:extLst>
              <a:ext uri="{FF2B5EF4-FFF2-40B4-BE49-F238E27FC236}">
                <a16:creationId xmlns:a16="http://schemas.microsoft.com/office/drawing/2014/main" id="{227CED60-BC8C-9177-211B-78DECE752E63}"/>
              </a:ext>
            </a:extLst>
          </p:cNvPr>
          <p:cNvSpPr txBox="1"/>
          <p:nvPr/>
        </p:nvSpPr>
        <p:spPr>
          <a:xfrm>
            <a:off x="1096206" y="4173871"/>
            <a:ext cx="7844594" cy="1200329"/>
          </a:xfrm>
          <a:prstGeom prst="rect">
            <a:avLst/>
          </a:prstGeom>
          <a:noFill/>
        </p:spPr>
        <p:txBody>
          <a:bodyPr wrap="square">
            <a:spAutoFit/>
          </a:bodyPr>
          <a:lstStyle/>
          <a:p>
            <a:pPr algn="just"/>
            <a:r>
              <a:rPr lang="en-US" dirty="0"/>
              <a:t>The log transformation improved model fit by </a:t>
            </a:r>
            <a:r>
              <a:rPr lang="en-US" b="1" dirty="0"/>
              <a:t>linearizing relationships and stabilizing variance</a:t>
            </a:r>
            <a:r>
              <a:rPr lang="en-US" dirty="0"/>
              <a:t>, leading to a </a:t>
            </a:r>
            <a:r>
              <a:rPr lang="en-US" b="1" dirty="0"/>
              <a:t>much higher likelihood</a:t>
            </a:r>
            <a:r>
              <a:rPr lang="en-US" dirty="0"/>
              <a:t>. Since AIC and BIC depend on −2ln⁡(L), the increase in likelihood made them </a:t>
            </a:r>
            <a:r>
              <a:rPr lang="en-US" b="1" dirty="0"/>
              <a:t>drop drastically, even turning negative</a:t>
            </a:r>
            <a:r>
              <a:rPr lang="en-US" dirty="0"/>
              <a:t>.</a:t>
            </a:r>
          </a:p>
        </p:txBody>
      </p:sp>
    </p:spTree>
    <p:extLst>
      <p:ext uri="{BB962C8B-B14F-4D97-AF65-F5344CB8AC3E}">
        <p14:creationId xmlns:p14="http://schemas.microsoft.com/office/powerpoint/2010/main" val="4091231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108D-0920-DE4E-1270-5555C05A0769}"/>
              </a:ext>
            </a:extLst>
          </p:cNvPr>
          <p:cNvSpPr>
            <a:spLocks noGrp="1"/>
          </p:cNvSpPr>
          <p:nvPr>
            <p:ph type="title"/>
          </p:nvPr>
        </p:nvSpPr>
        <p:spPr/>
        <p:txBody>
          <a:bodyPr/>
          <a:lstStyle/>
          <a:p>
            <a:r>
              <a:rPr lang="en-IN" dirty="0"/>
              <a:t>Synergy effect</a:t>
            </a:r>
            <a:endParaRPr lang="en-US" dirty="0"/>
          </a:p>
        </p:txBody>
      </p:sp>
      <p:sp>
        <p:nvSpPr>
          <p:cNvPr id="4" name="Slide Number Placeholder 3">
            <a:extLst>
              <a:ext uri="{FF2B5EF4-FFF2-40B4-BE49-F238E27FC236}">
                <a16:creationId xmlns:a16="http://schemas.microsoft.com/office/drawing/2014/main" id="{6E09028B-FD6F-88B6-AF5E-64E6FD3BFF8D}"/>
              </a:ext>
            </a:extLst>
          </p:cNvPr>
          <p:cNvSpPr>
            <a:spLocks noGrp="1"/>
          </p:cNvSpPr>
          <p:nvPr>
            <p:ph type="sldNum" sz="quarter" idx="12"/>
          </p:nvPr>
        </p:nvSpPr>
        <p:spPr/>
        <p:txBody>
          <a:bodyPr/>
          <a:lstStyle/>
          <a:p>
            <a:fld id="{C1FF6DA9-008F-8B48-92A6-B652298478BF}" type="slidenum">
              <a:rPr lang="en-US" smtClean="0"/>
              <a:t>20</a:t>
            </a:fld>
            <a:endParaRPr lang="en-US" dirty="0"/>
          </a:p>
        </p:txBody>
      </p:sp>
      <p:sp>
        <p:nvSpPr>
          <p:cNvPr id="5" name="Content Placeholder 4">
            <a:extLst>
              <a:ext uri="{FF2B5EF4-FFF2-40B4-BE49-F238E27FC236}">
                <a16:creationId xmlns:a16="http://schemas.microsoft.com/office/drawing/2014/main" id="{6E4E1501-B7C0-A9B7-3D78-E24634998622}"/>
              </a:ext>
            </a:extLst>
          </p:cNvPr>
          <p:cNvSpPr txBox="1">
            <a:spLocks noGrp="1"/>
          </p:cNvSpPr>
          <p:nvPr>
            <p:ph idx="1"/>
          </p:nvPr>
        </p:nvSpPr>
        <p:spPr>
          <a:xfrm>
            <a:off x="803717" y="1473329"/>
            <a:ext cx="7555345" cy="959237"/>
          </a:xfrm>
          <a:prstGeom prst="rect">
            <a:avLst/>
          </a:prstGeom>
          <a:noFill/>
        </p:spPr>
        <p:txBody>
          <a:bodyPr wrap="square" rtlCol="0">
            <a:spAutoFit/>
          </a:bodyPr>
          <a:lstStyle/>
          <a:p>
            <a:r>
              <a:rPr lang="en-US" sz="2400" dirty="0"/>
              <a:t>Sales ~ TV + Radio + TV x Radio</a:t>
            </a:r>
          </a:p>
          <a:p>
            <a:endParaRPr lang="en-US" sz="2400" dirty="0"/>
          </a:p>
        </p:txBody>
      </p:sp>
      <p:graphicFrame>
        <p:nvGraphicFramePr>
          <p:cNvPr id="13" name="Table 12">
            <a:extLst>
              <a:ext uri="{FF2B5EF4-FFF2-40B4-BE49-F238E27FC236}">
                <a16:creationId xmlns:a16="http://schemas.microsoft.com/office/drawing/2014/main" id="{875C175B-4BA2-A3E1-B468-0E805EA2D00C}"/>
              </a:ext>
            </a:extLst>
          </p:cNvPr>
          <p:cNvGraphicFramePr>
            <a:graphicFrameLocks noGrp="1"/>
          </p:cNvGraphicFramePr>
          <p:nvPr>
            <p:extLst>
              <p:ext uri="{D42A27DB-BD31-4B8C-83A1-F6EECF244321}">
                <p14:modId xmlns:p14="http://schemas.microsoft.com/office/powerpoint/2010/main" val="2699078970"/>
              </p:ext>
            </p:extLst>
          </p:nvPr>
        </p:nvGraphicFramePr>
        <p:xfrm>
          <a:off x="1945201" y="4197398"/>
          <a:ext cx="6591300" cy="2560320"/>
        </p:xfrm>
        <a:graphic>
          <a:graphicData uri="http://schemas.openxmlformats.org/drawingml/2006/table">
            <a:tbl>
              <a:tblPr>
                <a:tableStyleId>{5940675A-B579-460E-94D1-54222C63F5DA}</a:tableStyleId>
              </a:tblPr>
              <a:tblGrid>
                <a:gridCol w="3295650">
                  <a:extLst>
                    <a:ext uri="{9D8B030D-6E8A-4147-A177-3AD203B41FA5}">
                      <a16:colId xmlns:a16="http://schemas.microsoft.com/office/drawing/2014/main" val="625263671"/>
                    </a:ext>
                  </a:extLst>
                </a:gridCol>
                <a:gridCol w="3295650">
                  <a:extLst>
                    <a:ext uri="{9D8B030D-6E8A-4147-A177-3AD203B41FA5}">
                      <a16:colId xmlns:a16="http://schemas.microsoft.com/office/drawing/2014/main" val="975232002"/>
                    </a:ext>
                  </a:extLst>
                </a:gridCol>
              </a:tblGrid>
              <a:tr h="0">
                <a:tc>
                  <a:txBody>
                    <a:bodyPr/>
                    <a:lstStyle/>
                    <a:p>
                      <a:r>
                        <a:rPr lang="en-US"/>
                        <a:t>Statistic</a:t>
                      </a:r>
                    </a:p>
                  </a:txBody>
                  <a:tcPr anchor="ctr">
                    <a:solidFill>
                      <a:schemeClr val="bg1">
                        <a:lumMod val="85000"/>
                      </a:schemeClr>
                    </a:solidFill>
                  </a:tcPr>
                </a:tc>
                <a:tc>
                  <a:txBody>
                    <a:bodyPr/>
                    <a:lstStyle/>
                    <a:p>
                      <a:r>
                        <a:rPr lang="en-US" dirty="0"/>
                        <a:t>Value</a:t>
                      </a:r>
                    </a:p>
                  </a:txBody>
                  <a:tcPr anchor="ctr">
                    <a:solidFill>
                      <a:schemeClr val="bg1">
                        <a:lumMod val="85000"/>
                      </a:schemeClr>
                    </a:solidFill>
                  </a:tcPr>
                </a:tc>
                <a:extLst>
                  <a:ext uri="{0D108BD9-81ED-4DB2-BD59-A6C34878D82A}">
                    <a16:rowId xmlns:a16="http://schemas.microsoft.com/office/drawing/2014/main" val="2447169788"/>
                  </a:ext>
                </a:extLst>
              </a:tr>
              <a:tr h="0">
                <a:tc>
                  <a:txBody>
                    <a:bodyPr/>
                    <a:lstStyle/>
                    <a:p>
                      <a:r>
                        <a:rPr lang="en-US"/>
                        <a:t>Residual standard error</a:t>
                      </a:r>
                    </a:p>
                  </a:txBody>
                  <a:tcPr anchor="ctr"/>
                </a:tc>
                <a:tc>
                  <a:txBody>
                    <a:bodyPr/>
                    <a:lstStyle/>
                    <a:p>
                      <a:r>
                        <a:rPr lang="en-US"/>
                        <a:t>1.561</a:t>
                      </a:r>
                    </a:p>
                  </a:txBody>
                  <a:tcPr anchor="ctr"/>
                </a:tc>
                <a:extLst>
                  <a:ext uri="{0D108BD9-81ED-4DB2-BD59-A6C34878D82A}">
                    <a16:rowId xmlns:a16="http://schemas.microsoft.com/office/drawing/2014/main" val="1667838740"/>
                  </a:ext>
                </a:extLst>
              </a:tr>
              <a:tr h="0">
                <a:tc>
                  <a:txBody>
                    <a:bodyPr/>
                    <a:lstStyle/>
                    <a:p>
                      <a:r>
                        <a:rPr lang="en-US"/>
                        <a:t>Degrees of freedom</a:t>
                      </a:r>
                    </a:p>
                  </a:txBody>
                  <a:tcPr anchor="ctr"/>
                </a:tc>
                <a:tc>
                  <a:txBody>
                    <a:bodyPr/>
                    <a:lstStyle/>
                    <a:p>
                      <a:r>
                        <a:rPr lang="en-US"/>
                        <a:t>196</a:t>
                      </a:r>
                    </a:p>
                  </a:txBody>
                  <a:tcPr anchor="ctr"/>
                </a:tc>
                <a:extLst>
                  <a:ext uri="{0D108BD9-81ED-4DB2-BD59-A6C34878D82A}">
                    <a16:rowId xmlns:a16="http://schemas.microsoft.com/office/drawing/2014/main" val="3909114521"/>
                  </a:ext>
                </a:extLst>
              </a:tr>
              <a:tr h="0">
                <a:tc>
                  <a:txBody>
                    <a:bodyPr/>
                    <a:lstStyle/>
                    <a:p>
                      <a:r>
                        <a:rPr lang="en-US"/>
                        <a:t>Multiple R-squared</a:t>
                      </a:r>
                    </a:p>
                  </a:txBody>
                  <a:tcPr anchor="ctr"/>
                </a:tc>
                <a:tc>
                  <a:txBody>
                    <a:bodyPr/>
                    <a:lstStyle/>
                    <a:p>
                      <a:r>
                        <a:rPr lang="en-US"/>
                        <a:t>0.914</a:t>
                      </a:r>
                    </a:p>
                  </a:txBody>
                  <a:tcPr anchor="ctr"/>
                </a:tc>
                <a:extLst>
                  <a:ext uri="{0D108BD9-81ED-4DB2-BD59-A6C34878D82A}">
                    <a16:rowId xmlns:a16="http://schemas.microsoft.com/office/drawing/2014/main" val="2237010288"/>
                  </a:ext>
                </a:extLst>
              </a:tr>
              <a:tr h="0">
                <a:tc>
                  <a:txBody>
                    <a:bodyPr/>
                    <a:lstStyle/>
                    <a:p>
                      <a:r>
                        <a:rPr lang="en-US"/>
                        <a:t>Adjusted R-squared</a:t>
                      </a:r>
                    </a:p>
                  </a:txBody>
                  <a:tcPr anchor="ctr"/>
                </a:tc>
                <a:tc>
                  <a:txBody>
                    <a:bodyPr/>
                    <a:lstStyle/>
                    <a:p>
                      <a:r>
                        <a:rPr lang="en-US"/>
                        <a:t>0.9127</a:t>
                      </a:r>
                    </a:p>
                  </a:txBody>
                  <a:tcPr anchor="ctr"/>
                </a:tc>
                <a:extLst>
                  <a:ext uri="{0D108BD9-81ED-4DB2-BD59-A6C34878D82A}">
                    <a16:rowId xmlns:a16="http://schemas.microsoft.com/office/drawing/2014/main" val="867078101"/>
                  </a:ext>
                </a:extLst>
              </a:tr>
              <a:tr h="0">
                <a:tc>
                  <a:txBody>
                    <a:bodyPr/>
                    <a:lstStyle/>
                    <a:p>
                      <a:r>
                        <a:rPr lang="en-US"/>
                        <a:t>F-statistic</a:t>
                      </a:r>
                    </a:p>
                  </a:txBody>
                  <a:tcPr anchor="ctr"/>
                </a:tc>
                <a:tc>
                  <a:txBody>
                    <a:bodyPr/>
                    <a:lstStyle/>
                    <a:p>
                      <a:r>
                        <a:rPr lang="en-US"/>
                        <a:t>694.7</a:t>
                      </a:r>
                    </a:p>
                  </a:txBody>
                  <a:tcPr anchor="ctr"/>
                </a:tc>
                <a:extLst>
                  <a:ext uri="{0D108BD9-81ED-4DB2-BD59-A6C34878D82A}">
                    <a16:rowId xmlns:a16="http://schemas.microsoft.com/office/drawing/2014/main" val="1349178095"/>
                  </a:ext>
                </a:extLst>
              </a:tr>
              <a:tr h="0">
                <a:tc>
                  <a:txBody>
                    <a:bodyPr/>
                    <a:lstStyle/>
                    <a:p>
                      <a:r>
                        <a:rPr lang="en-US" dirty="0"/>
                        <a:t>F-statistic p-value</a:t>
                      </a:r>
                    </a:p>
                  </a:txBody>
                  <a:tcPr anchor="ctr"/>
                </a:tc>
                <a:tc>
                  <a:txBody>
                    <a:bodyPr/>
                    <a:lstStyle/>
                    <a:p>
                      <a:r>
                        <a:rPr lang="en-US" dirty="0"/>
                        <a:t>&lt; 2.2e-16</a:t>
                      </a:r>
                    </a:p>
                  </a:txBody>
                  <a:tcPr anchor="ctr"/>
                </a:tc>
                <a:extLst>
                  <a:ext uri="{0D108BD9-81ED-4DB2-BD59-A6C34878D82A}">
                    <a16:rowId xmlns:a16="http://schemas.microsoft.com/office/drawing/2014/main" val="1472439227"/>
                  </a:ext>
                </a:extLst>
              </a:tr>
            </a:tbl>
          </a:graphicData>
        </a:graphic>
      </p:graphicFrame>
      <p:graphicFrame>
        <p:nvGraphicFramePr>
          <p:cNvPr id="15" name="Table 14">
            <a:extLst>
              <a:ext uri="{FF2B5EF4-FFF2-40B4-BE49-F238E27FC236}">
                <a16:creationId xmlns:a16="http://schemas.microsoft.com/office/drawing/2014/main" id="{FD59FF51-87BA-B21C-E871-DE8EFC6B1DF7}"/>
              </a:ext>
            </a:extLst>
          </p:cNvPr>
          <p:cNvGraphicFramePr>
            <a:graphicFrameLocks noGrp="1"/>
          </p:cNvGraphicFramePr>
          <p:nvPr>
            <p:extLst>
              <p:ext uri="{D42A27DB-BD31-4B8C-83A1-F6EECF244321}">
                <p14:modId xmlns:p14="http://schemas.microsoft.com/office/powerpoint/2010/main" val="99771408"/>
              </p:ext>
            </p:extLst>
          </p:nvPr>
        </p:nvGraphicFramePr>
        <p:xfrm>
          <a:off x="1943100" y="2247900"/>
          <a:ext cx="6591300" cy="1828800"/>
        </p:xfrm>
        <a:graphic>
          <a:graphicData uri="http://schemas.openxmlformats.org/drawingml/2006/table">
            <a:tbl>
              <a:tblPr>
                <a:tableStyleId>{5940675A-B579-460E-94D1-54222C63F5DA}</a:tableStyleId>
              </a:tblPr>
              <a:tblGrid>
                <a:gridCol w="1318260">
                  <a:extLst>
                    <a:ext uri="{9D8B030D-6E8A-4147-A177-3AD203B41FA5}">
                      <a16:colId xmlns:a16="http://schemas.microsoft.com/office/drawing/2014/main" val="4101524723"/>
                    </a:ext>
                  </a:extLst>
                </a:gridCol>
                <a:gridCol w="1318260">
                  <a:extLst>
                    <a:ext uri="{9D8B030D-6E8A-4147-A177-3AD203B41FA5}">
                      <a16:colId xmlns:a16="http://schemas.microsoft.com/office/drawing/2014/main" val="472166511"/>
                    </a:ext>
                  </a:extLst>
                </a:gridCol>
                <a:gridCol w="1318260">
                  <a:extLst>
                    <a:ext uri="{9D8B030D-6E8A-4147-A177-3AD203B41FA5}">
                      <a16:colId xmlns:a16="http://schemas.microsoft.com/office/drawing/2014/main" val="1097598381"/>
                    </a:ext>
                  </a:extLst>
                </a:gridCol>
                <a:gridCol w="1318260">
                  <a:extLst>
                    <a:ext uri="{9D8B030D-6E8A-4147-A177-3AD203B41FA5}">
                      <a16:colId xmlns:a16="http://schemas.microsoft.com/office/drawing/2014/main" val="811253237"/>
                    </a:ext>
                  </a:extLst>
                </a:gridCol>
                <a:gridCol w="1318260">
                  <a:extLst>
                    <a:ext uri="{9D8B030D-6E8A-4147-A177-3AD203B41FA5}">
                      <a16:colId xmlns:a16="http://schemas.microsoft.com/office/drawing/2014/main" val="2797944749"/>
                    </a:ext>
                  </a:extLst>
                </a:gridCol>
              </a:tblGrid>
              <a:tr h="0">
                <a:tc>
                  <a:txBody>
                    <a:bodyPr/>
                    <a:lstStyle/>
                    <a:p>
                      <a:r>
                        <a:rPr lang="en-US"/>
                        <a:t>Term</a:t>
                      </a:r>
                    </a:p>
                  </a:txBody>
                  <a:tcPr anchor="ctr">
                    <a:solidFill>
                      <a:schemeClr val="bg1">
                        <a:lumMod val="85000"/>
                      </a:schemeClr>
                    </a:solidFill>
                  </a:tcPr>
                </a:tc>
                <a:tc>
                  <a:txBody>
                    <a:bodyPr/>
                    <a:lstStyle/>
                    <a:p>
                      <a:r>
                        <a:rPr lang="en-US"/>
                        <a:t>Estimate</a:t>
                      </a:r>
                    </a:p>
                  </a:txBody>
                  <a:tcPr anchor="ctr">
                    <a:solidFill>
                      <a:schemeClr val="bg1">
                        <a:lumMod val="85000"/>
                      </a:schemeClr>
                    </a:solidFill>
                  </a:tcPr>
                </a:tc>
                <a:tc>
                  <a:txBody>
                    <a:bodyPr/>
                    <a:lstStyle/>
                    <a:p>
                      <a:r>
                        <a:rPr lang="en-US"/>
                        <a:t>Std. Error</a:t>
                      </a:r>
                    </a:p>
                  </a:txBody>
                  <a:tcPr anchor="ctr">
                    <a:solidFill>
                      <a:schemeClr val="bg1">
                        <a:lumMod val="85000"/>
                      </a:schemeClr>
                    </a:solidFill>
                  </a:tcPr>
                </a:tc>
                <a:tc>
                  <a:txBody>
                    <a:bodyPr/>
                    <a:lstStyle/>
                    <a:p>
                      <a:r>
                        <a:rPr lang="en-US"/>
                        <a:t>t value</a:t>
                      </a:r>
                    </a:p>
                  </a:txBody>
                  <a:tcPr anchor="ctr">
                    <a:solidFill>
                      <a:schemeClr val="bg1">
                        <a:lumMod val="85000"/>
                      </a:schemeClr>
                    </a:solidFill>
                  </a:tcPr>
                </a:tc>
                <a:tc>
                  <a:txBody>
                    <a:bodyPr/>
                    <a:lstStyle/>
                    <a:p>
                      <a:r>
                        <a:rPr lang="en-US" dirty="0"/>
                        <a:t>p-value</a:t>
                      </a:r>
                    </a:p>
                  </a:txBody>
                  <a:tcPr anchor="ctr">
                    <a:solidFill>
                      <a:schemeClr val="bg1">
                        <a:lumMod val="85000"/>
                      </a:schemeClr>
                    </a:solidFill>
                  </a:tcPr>
                </a:tc>
                <a:extLst>
                  <a:ext uri="{0D108BD9-81ED-4DB2-BD59-A6C34878D82A}">
                    <a16:rowId xmlns:a16="http://schemas.microsoft.com/office/drawing/2014/main" val="1653574515"/>
                  </a:ext>
                </a:extLst>
              </a:tr>
              <a:tr h="0">
                <a:tc>
                  <a:txBody>
                    <a:bodyPr/>
                    <a:lstStyle/>
                    <a:p>
                      <a:r>
                        <a:rPr lang="en-US" b="1"/>
                        <a:t>Intercept</a:t>
                      </a:r>
                      <a:endParaRPr lang="en-US"/>
                    </a:p>
                  </a:txBody>
                  <a:tcPr anchor="ctr"/>
                </a:tc>
                <a:tc>
                  <a:txBody>
                    <a:bodyPr/>
                    <a:lstStyle/>
                    <a:p>
                      <a:r>
                        <a:rPr lang="en-US"/>
                        <a:t>6.193e+00</a:t>
                      </a:r>
                    </a:p>
                  </a:txBody>
                  <a:tcPr anchor="ctr"/>
                </a:tc>
                <a:tc>
                  <a:txBody>
                    <a:bodyPr/>
                    <a:lstStyle/>
                    <a:p>
                      <a:r>
                        <a:rPr lang="en-US"/>
                        <a:t>4.101e-01</a:t>
                      </a:r>
                    </a:p>
                  </a:txBody>
                  <a:tcPr anchor="ctr"/>
                </a:tc>
                <a:tc>
                  <a:txBody>
                    <a:bodyPr/>
                    <a:lstStyle/>
                    <a:p>
                      <a:r>
                        <a:rPr lang="en-US"/>
                        <a:t>15.101</a:t>
                      </a:r>
                    </a:p>
                  </a:txBody>
                  <a:tcPr anchor="ctr"/>
                </a:tc>
                <a:tc>
                  <a:txBody>
                    <a:bodyPr/>
                    <a:lstStyle/>
                    <a:p>
                      <a:r>
                        <a:rPr lang="en-US" dirty="0"/>
                        <a:t>&lt; 2e-16</a:t>
                      </a:r>
                    </a:p>
                  </a:txBody>
                  <a:tcPr anchor="ctr"/>
                </a:tc>
                <a:extLst>
                  <a:ext uri="{0D108BD9-81ED-4DB2-BD59-A6C34878D82A}">
                    <a16:rowId xmlns:a16="http://schemas.microsoft.com/office/drawing/2014/main" val="1470055831"/>
                  </a:ext>
                </a:extLst>
              </a:tr>
              <a:tr h="0">
                <a:tc>
                  <a:txBody>
                    <a:bodyPr/>
                    <a:lstStyle/>
                    <a:p>
                      <a:r>
                        <a:rPr lang="en-US" b="1"/>
                        <a:t>TV</a:t>
                      </a:r>
                      <a:endParaRPr lang="en-US"/>
                    </a:p>
                  </a:txBody>
                  <a:tcPr anchor="ctr"/>
                </a:tc>
                <a:tc>
                  <a:txBody>
                    <a:bodyPr/>
                    <a:lstStyle/>
                    <a:p>
                      <a:r>
                        <a:rPr lang="en-US"/>
                        <a:t>4.358e-02</a:t>
                      </a:r>
                    </a:p>
                  </a:txBody>
                  <a:tcPr anchor="ctr"/>
                </a:tc>
                <a:tc>
                  <a:txBody>
                    <a:bodyPr/>
                    <a:lstStyle/>
                    <a:p>
                      <a:r>
                        <a:rPr lang="en-US"/>
                        <a:t>2.489e-03</a:t>
                      </a:r>
                    </a:p>
                  </a:txBody>
                  <a:tcPr anchor="ctr"/>
                </a:tc>
                <a:tc>
                  <a:txBody>
                    <a:bodyPr/>
                    <a:lstStyle/>
                    <a:p>
                      <a:r>
                        <a:rPr lang="en-US"/>
                        <a:t>17.512</a:t>
                      </a:r>
                    </a:p>
                  </a:txBody>
                  <a:tcPr anchor="ctr"/>
                </a:tc>
                <a:tc>
                  <a:txBody>
                    <a:bodyPr/>
                    <a:lstStyle/>
                    <a:p>
                      <a:r>
                        <a:rPr lang="en-US"/>
                        <a:t>&lt; 2e-16</a:t>
                      </a:r>
                    </a:p>
                  </a:txBody>
                  <a:tcPr anchor="ctr"/>
                </a:tc>
                <a:extLst>
                  <a:ext uri="{0D108BD9-81ED-4DB2-BD59-A6C34878D82A}">
                    <a16:rowId xmlns:a16="http://schemas.microsoft.com/office/drawing/2014/main" val="2238482326"/>
                  </a:ext>
                </a:extLst>
              </a:tr>
              <a:tr h="0">
                <a:tc>
                  <a:txBody>
                    <a:bodyPr/>
                    <a:lstStyle/>
                    <a:p>
                      <a:r>
                        <a:rPr lang="en-US" b="1"/>
                        <a:t>Radio</a:t>
                      </a:r>
                      <a:endParaRPr lang="en-US"/>
                    </a:p>
                  </a:txBody>
                  <a:tcPr anchor="ctr"/>
                </a:tc>
                <a:tc>
                  <a:txBody>
                    <a:bodyPr/>
                    <a:lstStyle/>
                    <a:p>
                      <a:r>
                        <a:rPr lang="en-US"/>
                        <a:t>4.227e-02</a:t>
                      </a:r>
                    </a:p>
                  </a:txBody>
                  <a:tcPr anchor="ctr"/>
                </a:tc>
                <a:tc>
                  <a:txBody>
                    <a:bodyPr/>
                    <a:lstStyle/>
                    <a:p>
                      <a:r>
                        <a:rPr lang="en-US"/>
                        <a:t>1.473e-02</a:t>
                      </a:r>
                    </a:p>
                  </a:txBody>
                  <a:tcPr anchor="ctr"/>
                </a:tc>
                <a:tc>
                  <a:txBody>
                    <a:bodyPr/>
                    <a:lstStyle/>
                    <a:p>
                      <a:r>
                        <a:rPr lang="en-US"/>
                        <a:t>2.869</a:t>
                      </a:r>
                    </a:p>
                  </a:txBody>
                  <a:tcPr anchor="ctr"/>
                </a:tc>
                <a:tc>
                  <a:txBody>
                    <a:bodyPr/>
                    <a:lstStyle/>
                    <a:p>
                      <a:r>
                        <a:rPr lang="en-US"/>
                        <a:t>0.00457</a:t>
                      </a:r>
                    </a:p>
                  </a:txBody>
                  <a:tcPr anchor="ctr"/>
                </a:tc>
                <a:extLst>
                  <a:ext uri="{0D108BD9-81ED-4DB2-BD59-A6C34878D82A}">
                    <a16:rowId xmlns:a16="http://schemas.microsoft.com/office/drawing/2014/main" val="1901587451"/>
                  </a:ext>
                </a:extLst>
              </a:tr>
              <a:tr h="0">
                <a:tc>
                  <a:txBody>
                    <a:bodyPr/>
                    <a:lstStyle/>
                    <a:p>
                      <a:r>
                        <a:rPr lang="en-US" b="1"/>
                        <a:t>TV:Radio</a:t>
                      </a:r>
                      <a:endParaRPr lang="en-US"/>
                    </a:p>
                  </a:txBody>
                  <a:tcPr anchor="ctr"/>
                </a:tc>
                <a:tc>
                  <a:txBody>
                    <a:bodyPr/>
                    <a:lstStyle/>
                    <a:p>
                      <a:r>
                        <a:rPr lang="en-US"/>
                        <a:t>4.431e-04</a:t>
                      </a:r>
                    </a:p>
                  </a:txBody>
                  <a:tcPr anchor="ctr"/>
                </a:tc>
                <a:tc>
                  <a:txBody>
                    <a:bodyPr/>
                    <a:lstStyle/>
                    <a:p>
                      <a:r>
                        <a:rPr lang="en-US"/>
                        <a:t>8.673e-05</a:t>
                      </a:r>
                    </a:p>
                  </a:txBody>
                  <a:tcPr anchor="ctr"/>
                </a:tc>
                <a:tc>
                  <a:txBody>
                    <a:bodyPr/>
                    <a:lstStyle/>
                    <a:p>
                      <a:r>
                        <a:rPr lang="en-US"/>
                        <a:t>5.110</a:t>
                      </a:r>
                    </a:p>
                  </a:txBody>
                  <a:tcPr anchor="ctr"/>
                </a:tc>
                <a:tc>
                  <a:txBody>
                    <a:bodyPr/>
                    <a:lstStyle/>
                    <a:p>
                      <a:r>
                        <a:rPr lang="en-US" dirty="0"/>
                        <a:t>7.63e-07</a:t>
                      </a:r>
                    </a:p>
                  </a:txBody>
                  <a:tcPr anchor="ctr"/>
                </a:tc>
                <a:extLst>
                  <a:ext uri="{0D108BD9-81ED-4DB2-BD59-A6C34878D82A}">
                    <a16:rowId xmlns:a16="http://schemas.microsoft.com/office/drawing/2014/main" val="3084103207"/>
                  </a:ext>
                </a:extLst>
              </a:tr>
            </a:tbl>
          </a:graphicData>
        </a:graphic>
      </p:graphicFrame>
      <p:sp>
        <p:nvSpPr>
          <p:cNvPr id="16" name="Rectangle 2">
            <a:extLst>
              <a:ext uri="{FF2B5EF4-FFF2-40B4-BE49-F238E27FC236}">
                <a16:creationId xmlns:a16="http://schemas.microsoft.com/office/drawing/2014/main" id="{13A72D67-2FDA-F59F-D510-0C2710B13A2C}"/>
              </a:ext>
            </a:extLst>
          </p:cNvPr>
          <p:cNvSpPr>
            <a:spLocks noChangeArrowheads="1"/>
          </p:cNvSpPr>
          <p:nvPr/>
        </p:nvSpPr>
        <p:spPr bwMode="auto">
          <a:xfrm>
            <a:off x="1943100" y="31623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7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52767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Advertising &amp; Sales Analysis</a:t>
            </a:r>
            <a:endParaRPr dirty="0"/>
          </a:p>
        </p:txBody>
      </p:sp>
      <p:sp>
        <p:nvSpPr>
          <p:cNvPr id="5" name="Slide Number Placeholder 4">
            <a:extLst>
              <a:ext uri="{FF2B5EF4-FFF2-40B4-BE49-F238E27FC236}">
                <a16:creationId xmlns:a16="http://schemas.microsoft.com/office/drawing/2014/main" id="{344D1AB8-1102-4478-30D1-F02EC56A19EA}"/>
              </a:ext>
            </a:extLst>
          </p:cNvPr>
          <p:cNvSpPr>
            <a:spLocks noGrp="1"/>
          </p:cNvSpPr>
          <p:nvPr>
            <p:ph type="sldNum" sz="quarter" idx="12"/>
          </p:nvPr>
        </p:nvSpPr>
        <p:spPr/>
        <p:txBody>
          <a:bodyPr/>
          <a:lstStyle/>
          <a:p>
            <a:fld id="{C1FF6DA9-008F-8B48-92A6-B652298478BF}" type="slidenum">
              <a:rPr lang="en-US" smtClean="0"/>
              <a:t>21</a:t>
            </a:fld>
            <a:endParaRPr lang="en-US" dirty="0"/>
          </a:p>
        </p:txBody>
      </p:sp>
      <p:sp>
        <p:nvSpPr>
          <p:cNvPr id="15" name="Rectangle 4">
            <a:extLst>
              <a:ext uri="{FF2B5EF4-FFF2-40B4-BE49-F238E27FC236}">
                <a16:creationId xmlns:a16="http://schemas.microsoft.com/office/drawing/2014/main" id="{35E1B929-0390-C2EF-D355-E5649ED52F4C}"/>
              </a:ext>
            </a:extLst>
          </p:cNvPr>
          <p:cNvSpPr txBox="1">
            <a:spLocks noChangeArrowheads="1"/>
          </p:cNvSpPr>
          <p:nvPr/>
        </p:nvSpPr>
        <p:spPr bwMode="auto">
          <a:xfrm>
            <a:off x="221674" y="1302027"/>
            <a:ext cx="8629838" cy="62023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740664" indent="-283464" algn="just" rtl="0" eaLnBrk="1" latinLnBrk="0" hangingPunct="1">
              <a:lnSpc>
                <a:spcPct val="120000"/>
              </a:lnSpc>
            </a:pPr>
            <a:r>
              <a:rPr lang="en-US" sz="1600" dirty="0">
                <a:effectLst/>
              </a:rPr>
              <a:t>Is there a relationship between advertising and sales?</a:t>
            </a:r>
          </a:p>
          <a:p>
            <a:pPr marL="1140714" lvl="1" indent="-283464" algn="just">
              <a:lnSpc>
                <a:spcPct val="120000"/>
              </a:lnSpc>
            </a:pPr>
            <a:r>
              <a:rPr lang="en-US" sz="1400" dirty="0"/>
              <a:t>Yes, advertising strongly influences sales. The linear model explains 91.4% of the variation in sales, with both TV and Radio playing significant roles. The interaction between TV and Radio also suggests that their combined effect on sales is greater than their individual impacts.</a:t>
            </a:r>
          </a:p>
          <a:p>
            <a:pPr marL="740664" indent="-283464" algn="just" rtl="0" eaLnBrk="1" latinLnBrk="0" hangingPunct="1">
              <a:lnSpc>
                <a:spcPct val="120000"/>
              </a:lnSpc>
            </a:pPr>
            <a:r>
              <a:rPr lang="en-US" sz="1600" dirty="0">
                <a:effectLst/>
              </a:rPr>
              <a:t>How strong is this relationship?</a:t>
            </a:r>
          </a:p>
          <a:p>
            <a:pPr marL="1140714" lvl="1" indent="-283464" algn="just">
              <a:lnSpc>
                <a:spcPct val="120000"/>
              </a:lnSpc>
            </a:pPr>
            <a:r>
              <a:rPr lang="en-US" sz="1400" dirty="0"/>
              <a:t>The relationship is very strong, with an R² of 91.4%. TV and Radio have a significant impact on sales, and the interaction term (</a:t>
            </a:r>
            <a:r>
              <a:rPr lang="en-US" sz="1400" dirty="0" err="1"/>
              <a:t>TV:Radio</a:t>
            </a:r>
            <a:r>
              <a:rPr lang="en-US" sz="1400" dirty="0"/>
              <a:t>) further enhances this relationship. The model suggests that both TV and Radio together provide a more accurate prediction of sales than either alone.</a:t>
            </a:r>
            <a:endParaRPr lang="en-US" sz="1400" dirty="0">
              <a:effectLst/>
            </a:endParaRPr>
          </a:p>
          <a:p>
            <a:pPr marL="740664" indent="-283464" algn="just" rtl="0" eaLnBrk="1" latinLnBrk="0" hangingPunct="1">
              <a:lnSpc>
                <a:spcPct val="120000"/>
              </a:lnSpc>
            </a:pPr>
            <a:r>
              <a:rPr lang="en-US" sz="1600" dirty="0">
                <a:effectLst/>
              </a:rPr>
              <a:t>Which type of advertising has the most impact?</a:t>
            </a:r>
          </a:p>
          <a:p>
            <a:pPr marL="1140714" lvl="1" indent="-283464" algn="just">
              <a:lnSpc>
                <a:spcPct val="120000"/>
              </a:lnSpc>
            </a:pPr>
            <a:r>
              <a:rPr lang="en-US" sz="1400" dirty="0"/>
              <a:t>TV and Radio have the strongest effects on sales:</a:t>
            </a:r>
          </a:p>
          <a:p>
            <a:pPr marL="1140714" lvl="1" indent="-283464" algn="just">
              <a:lnSpc>
                <a:spcPct val="120000"/>
              </a:lnSpc>
            </a:pPr>
            <a:r>
              <a:rPr lang="en-US" sz="1400" b="1" dirty="0"/>
              <a:t>TV</a:t>
            </a:r>
            <a:r>
              <a:rPr lang="en-US" sz="1400" dirty="0"/>
              <a:t>: The most powerful predictor of sales, with a large and statistically significant impact.</a:t>
            </a:r>
          </a:p>
          <a:p>
            <a:pPr marL="1140714" lvl="1" indent="-283464" algn="just">
              <a:lnSpc>
                <a:spcPct val="120000"/>
              </a:lnSpc>
            </a:pPr>
            <a:r>
              <a:rPr lang="en-US" sz="1400" b="1" dirty="0"/>
              <a:t>Radio</a:t>
            </a:r>
            <a:r>
              <a:rPr lang="en-US" sz="1400" dirty="0"/>
              <a:t>: Has a strong impact, but slightly less influential than TV.</a:t>
            </a:r>
          </a:p>
          <a:p>
            <a:pPr marL="1140714" lvl="1" indent="-283464" algn="just">
              <a:lnSpc>
                <a:spcPct val="120000"/>
              </a:lnSpc>
            </a:pPr>
            <a:r>
              <a:rPr lang="en-US" sz="1400" b="1" dirty="0"/>
              <a:t>Newspaper</a:t>
            </a:r>
            <a:r>
              <a:rPr lang="en-US" sz="1400" dirty="0"/>
              <a:t>: In this model, Newspaper does not have a significant effect on sales when compared to TV and Radio</a:t>
            </a:r>
          </a:p>
          <a:p>
            <a:pPr marL="1140714" lvl="1" indent="-283464" algn="just">
              <a:lnSpc>
                <a:spcPct val="120000"/>
              </a:lnSpc>
            </a:pPr>
            <a:endParaRPr lang="en-US" sz="1400" dirty="0">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FA3BA-D313-A948-F4FA-6F167CA4BD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63FAA-9B13-1309-B577-2B75714A25D5}"/>
              </a:ext>
            </a:extLst>
          </p:cNvPr>
          <p:cNvSpPr>
            <a:spLocks noGrp="1"/>
          </p:cNvSpPr>
          <p:nvPr>
            <p:ph type="title"/>
          </p:nvPr>
        </p:nvSpPr>
        <p:spPr/>
        <p:txBody>
          <a:bodyPr>
            <a:normAutofit/>
          </a:bodyPr>
          <a:lstStyle/>
          <a:p>
            <a:r>
              <a:rPr lang="en-US" dirty="0"/>
              <a:t>Advertising &amp; Sales Analysis</a:t>
            </a:r>
            <a:endParaRPr dirty="0"/>
          </a:p>
        </p:txBody>
      </p:sp>
      <p:sp>
        <p:nvSpPr>
          <p:cNvPr id="5" name="Slide Number Placeholder 4">
            <a:extLst>
              <a:ext uri="{FF2B5EF4-FFF2-40B4-BE49-F238E27FC236}">
                <a16:creationId xmlns:a16="http://schemas.microsoft.com/office/drawing/2014/main" id="{54D26583-A351-AFC4-C6A5-C2E15A36FD1D}"/>
              </a:ext>
            </a:extLst>
          </p:cNvPr>
          <p:cNvSpPr>
            <a:spLocks noGrp="1"/>
          </p:cNvSpPr>
          <p:nvPr>
            <p:ph type="sldNum" sz="quarter" idx="12"/>
          </p:nvPr>
        </p:nvSpPr>
        <p:spPr/>
        <p:txBody>
          <a:bodyPr/>
          <a:lstStyle/>
          <a:p>
            <a:fld id="{C1FF6DA9-008F-8B48-92A6-B652298478BF}" type="slidenum">
              <a:rPr lang="en-US" smtClean="0"/>
              <a:t>22</a:t>
            </a:fld>
            <a:endParaRPr lang="en-US" dirty="0"/>
          </a:p>
        </p:txBody>
      </p:sp>
      <p:sp>
        <p:nvSpPr>
          <p:cNvPr id="9" name="Rectangle 4">
            <a:extLst>
              <a:ext uri="{FF2B5EF4-FFF2-40B4-BE49-F238E27FC236}">
                <a16:creationId xmlns:a16="http://schemas.microsoft.com/office/drawing/2014/main" id="{1008B3CF-59BD-3426-D8FF-812477DF9EFF}"/>
              </a:ext>
            </a:extLst>
          </p:cNvPr>
          <p:cNvSpPr>
            <a:spLocks noGrp="1" noChangeArrowheads="1"/>
          </p:cNvSpPr>
          <p:nvPr>
            <p:ph idx="1"/>
          </p:nvPr>
        </p:nvSpPr>
        <p:spPr bwMode="auto">
          <a:xfrm>
            <a:off x="609600" y="1264555"/>
            <a:ext cx="8331200" cy="5552912"/>
          </a:xfrm>
          <a:prstGeom prst="rect">
            <a:avLst/>
          </a:prstGeom>
        </p:spPr>
        <p:txBody>
          <a:bodyPr vert="horz" lIns="91440" tIns="45720" rIns="91440" bIns="45720" rtlCol="0">
            <a:normAutofit fontScale="92500" lnSpcReduction="10000"/>
          </a:bodyPr>
          <a:lstStyle/>
          <a:p>
            <a:pPr algn="just">
              <a:lnSpc>
                <a:spcPct val="110000"/>
              </a:lnSpc>
            </a:pPr>
            <a:r>
              <a:rPr lang="en-US" altLang="en-US" dirty="0"/>
              <a:t>How much will sales increase for every dollar spent?</a:t>
            </a:r>
          </a:p>
          <a:p>
            <a:pPr lvl="1" algn="just">
              <a:lnSpc>
                <a:spcPct val="110000"/>
              </a:lnSpc>
            </a:pPr>
            <a:r>
              <a:rPr lang="en-US" altLang="en-US" dirty="0"/>
              <a:t>TV: For every $1,000 spent on TV advertising, sales increase by approximately 43.58 units.</a:t>
            </a:r>
          </a:p>
          <a:p>
            <a:pPr lvl="1" algn="just">
              <a:lnSpc>
                <a:spcPct val="110000"/>
              </a:lnSpc>
            </a:pPr>
            <a:r>
              <a:rPr lang="en-US" altLang="en-US" dirty="0"/>
              <a:t>Radio: For every $1,000 spent on Radio advertising, sales increase by approximately 42.27 units.</a:t>
            </a:r>
          </a:p>
          <a:p>
            <a:pPr algn="just">
              <a:lnSpc>
                <a:spcPct val="110000"/>
              </a:lnSpc>
            </a:pPr>
            <a:r>
              <a:rPr lang="en-US" altLang="en-US" dirty="0"/>
              <a:t>Can we accurately predict future sales?</a:t>
            </a:r>
          </a:p>
          <a:p>
            <a:pPr lvl="1" algn="just">
              <a:lnSpc>
                <a:spcPct val="110000"/>
              </a:lnSpc>
            </a:pPr>
            <a:r>
              <a:rPr lang="en-US" dirty="0"/>
              <a:t>Yes, the linear model has high accuracy, with an R² of 91.4%, indicating that it explains a substantial amount of the variation in sales. This makes the model a strong predictor of future sales.</a:t>
            </a:r>
            <a:endParaRPr lang="en-US" altLang="en-US" dirty="0"/>
          </a:p>
          <a:p>
            <a:pPr algn="just">
              <a:lnSpc>
                <a:spcPct val="110000"/>
              </a:lnSpc>
            </a:pPr>
            <a:r>
              <a:rPr lang="en-US" altLang="en-US" dirty="0"/>
              <a:t>Do different media create a synergy effect?</a:t>
            </a:r>
          </a:p>
          <a:p>
            <a:pPr lvl="1" algn="just">
              <a:lnSpc>
                <a:spcPct val="110000"/>
              </a:lnSpc>
            </a:pPr>
            <a:r>
              <a:rPr lang="en-US" altLang="en-US" dirty="0"/>
              <a:t>Yes, TV and Radio work well together and enhance sales.</a:t>
            </a:r>
          </a:p>
          <a:p>
            <a:pPr lvl="1" algn="just">
              <a:lnSpc>
                <a:spcPct val="110000"/>
              </a:lnSpc>
            </a:pPr>
            <a:r>
              <a:rPr lang="en-US" altLang="en-US" dirty="0"/>
              <a:t>Newspaper does not add value and can be ignored.</a:t>
            </a:r>
          </a:p>
          <a:p>
            <a:pPr algn="just">
              <a:lnSpc>
                <a:spcPct val="110000"/>
              </a:lnSpc>
            </a:pPr>
            <a:r>
              <a:rPr lang="en-US" altLang="en-US" dirty="0"/>
              <a:t>Is the relationship truly linear, or do we need transformations?</a:t>
            </a:r>
          </a:p>
          <a:p>
            <a:pPr lvl="1" algn="just">
              <a:lnSpc>
                <a:spcPct val="110000"/>
              </a:lnSpc>
            </a:pPr>
            <a:r>
              <a:rPr lang="en-US" altLang="en-US" dirty="0"/>
              <a:t>The relationship is mostly linear, but the synergy model (</a:t>
            </a:r>
            <a:r>
              <a:rPr lang="en-US" altLang="en-US" dirty="0" err="1"/>
              <a:t>lm_synergy</a:t>
            </a:r>
            <a:r>
              <a:rPr lang="en-US" altLang="en-US" dirty="0"/>
              <a:t>) with the interaction term (</a:t>
            </a:r>
            <a:r>
              <a:rPr lang="en-US" altLang="en-US" dirty="0" err="1"/>
              <a:t>TV:Radio</a:t>
            </a:r>
            <a:r>
              <a:rPr lang="en-US" altLang="en-US" dirty="0"/>
              <a:t>) significantly improves performance (lower AIC: 751.66, lower BIC: 768.15) compared to simpler models. No transformation is needed since the fit is already strong.</a:t>
            </a:r>
          </a:p>
        </p:txBody>
      </p:sp>
    </p:spTree>
    <p:extLst>
      <p:ext uri="{BB962C8B-B14F-4D97-AF65-F5344CB8AC3E}">
        <p14:creationId xmlns:p14="http://schemas.microsoft.com/office/powerpoint/2010/main" val="2697993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1787" y="2677596"/>
            <a:ext cx="2700670" cy="831148"/>
          </a:xfrm>
        </p:spPr>
        <p:txBody>
          <a:bodyPr/>
          <a:lstStyle/>
          <a:p>
            <a:r>
              <a:rPr dirty="0"/>
              <a:t>Thank You!</a:t>
            </a:r>
          </a:p>
        </p:txBody>
      </p:sp>
      <p:sp>
        <p:nvSpPr>
          <p:cNvPr id="5" name="Slide Number Placeholder 4">
            <a:extLst>
              <a:ext uri="{FF2B5EF4-FFF2-40B4-BE49-F238E27FC236}">
                <a16:creationId xmlns:a16="http://schemas.microsoft.com/office/drawing/2014/main" id="{B17F8D15-8E17-3E3F-36FE-BE2B75A981B2}"/>
              </a:ext>
            </a:extLst>
          </p:cNvPr>
          <p:cNvSpPr>
            <a:spLocks noGrp="1"/>
          </p:cNvSpPr>
          <p:nvPr>
            <p:ph type="sldNum" sz="quarter" idx="12"/>
          </p:nvPr>
        </p:nvSpPr>
        <p:spPr/>
        <p:txBody>
          <a:bodyPr/>
          <a:lstStyle/>
          <a:p>
            <a:fld id="{C1FF6DA9-008F-8B48-92A6-B652298478BF}" type="slidenum">
              <a:rPr lang="en-US" smtClean="0"/>
              <a:t>23</a:t>
            </a:fld>
            <a:endParaRPr lang="en-US"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1321</TotalTime>
  <Words>1701</Words>
  <Application>Microsoft Office PowerPoint</Application>
  <PresentationFormat>On-screen Show (4:3)</PresentationFormat>
  <Paragraphs>388</Paragraphs>
  <Slides>23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Century Gothic</vt:lpstr>
      <vt:lpstr>Wingdings 3</vt:lpstr>
      <vt:lpstr>Wisp</vt:lpstr>
      <vt:lpstr>Advertising Data Analysis: A Multiple Linear Regression Approach</vt:lpstr>
      <vt:lpstr>Questions</vt:lpstr>
      <vt:lpstr>Summary Statistics</vt:lpstr>
      <vt:lpstr>Data Visualization: Distribution Analysis</vt:lpstr>
      <vt:lpstr>Histograms</vt:lpstr>
      <vt:lpstr>PowerPoint Presentation</vt:lpstr>
      <vt:lpstr>Correlation Matrix</vt:lpstr>
      <vt:lpstr>PowerPoint Presentation</vt:lpstr>
      <vt:lpstr>PowerPoint Presentation</vt:lpstr>
      <vt:lpstr>Simple Linear Regression Models</vt:lpstr>
      <vt:lpstr>Multiple Linear Regression</vt:lpstr>
      <vt:lpstr>Regression Results</vt:lpstr>
      <vt:lpstr>Regression Coefficients</vt:lpstr>
      <vt:lpstr>PowerPoint Presentation</vt:lpstr>
      <vt:lpstr>Visualization</vt:lpstr>
      <vt:lpstr>Model selection criteria</vt:lpstr>
      <vt:lpstr>Residuals vs Fitted Values </vt:lpstr>
      <vt:lpstr>Comparison table</vt:lpstr>
      <vt:lpstr>Model selection criteria</vt:lpstr>
      <vt:lpstr>Synergy effect</vt:lpstr>
      <vt:lpstr>Advertising &amp; Sales Analysis</vt:lpstr>
      <vt:lpstr>Advertising &amp; Sales Analysis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Yash Gadbail</cp:lastModifiedBy>
  <cp:revision>23</cp:revision>
  <dcterms:created xsi:type="dcterms:W3CDTF">2013-01-27T09:14:16Z</dcterms:created>
  <dcterms:modified xsi:type="dcterms:W3CDTF">2025-03-31T15:35:56Z</dcterms:modified>
  <cp:category/>
</cp:coreProperties>
</file>